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3" r:id="rId8"/>
    <p:sldId id="264"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1375" autoAdjust="0"/>
  </p:normalViewPr>
  <p:slideViewPr>
    <p:cSldViewPr snapToGrid="0">
      <p:cViewPr>
        <p:scale>
          <a:sx n="105" d="100"/>
          <a:sy n="105" d="100"/>
        </p:scale>
        <p:origin x="819" y="39"/>
      </p:cViewPr>
      <p:guideLst/>
    </p:cSldViewPr>
  </p:slideViewPr>
  <p:notesTextViewPr>
    <p:cViewPr>
      <p:scale>
        <a:sx n="98" d="100"/>
        <a:sy n="98"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BB89D3-1E85-48CA-BFDB-0FE03B3C9B40}" type="datetimeFigureOut">
              <a:rPr lang="en-GB" smtClean="0"/>
              <a:t>24/11/2024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9AB5C0-8D71-4250-8AD2-76EE22722959}" type="slidenum">
              <a:rPr lang="en-GB" smtClean="0"/>
              <a:t>‹#›</a:t>
            </a:fld>
            <a:endParaRPr lang="en-GB"/>
          </a:p>
        </p:txBody>
      </p:sp>
    </p:spTree>
    <p:extLst>
      <p:ext uri="{BB962C8B-B14F-4D97-AF65-F5344CB8AC3E}">
        <p14:creationId xmlns:p14="http://schemas.microsoft.com/office/powerpoint/2010/main" val="2764755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the experimental setup it's important to consider the parameters needed to define a given propellers performance. Dimensionless thrust and power coefficients can be found from blade tip speed and area. The ratio of these coefficients define a ‘static’ efficiency which is different to the typical propulsive efficiency. The values then required to be measured are the torque, thrust and angular speed.</a:t>
            </a:r>
          </a:p>
          <a:p>
            <a:r>
              <a:rPr lang="en-GB" dirty="0"/>
              <a:t>Dynamic measurements of torque and angular velocity could be fused together in a Kalman filter</a:t>
            </a:r>
          </a:p>
        </p:txBody>
      </p:sp>
      <p:sp>
        <p:nvSpPr>
          <p:cNvPr id="4" name="Slide Number Placeholder 3"/>
          <p:cNvSpPr>
            <a:spLocks noGrp="1"/>
          </p:cNvSpPr>
          <p:nvPr>
            <p:ph type="sldNum" sz="quarter" idx="5"/>
          </p:nvPr>
        </p:nvSpPr>
        <p:spPr/>
        <p:txBody>
          <a:bodyPr/>
          <a:lstStyle/>
          <a:p>
            <a:fld id="{339AB5C0-8D71-4250-8AD2-76EE22722959}" type="slidenum">
              <a:rPr lang="en-GB" smtClean="0"/>
              <a:t>6</a:t>
            </a:fld>
            <a:endParaRPr lang="en-GB"/>
          </a:p>
        </p:txBody>
      </p:sp>
    </p:spTree>
    <p:extLst>
      <p:ext uri="{BB962C8B-B14F-4D97-AF65-F5344CB8AC3E}">
        <p14:creationId xmlns:p14="http://schemas.microsoft.com/office/powerpoint/2010/main" val="1790782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measure torque and thrust the deflection of load cells will be measured by strain gauges. This was preferred over null force balancing methods for its simple setup and ability to measure dynamic torque.</a:t>
            </a:r>
          </a:p>
        </p:txBody>
      </p:sp>
      <p:sp>
        <p:nvSpPr>
          <p:cNvPr id="4" name="Slide Number Placeholder 3"/>
          <p:cNvSpPr>
            <a:spLocks noGrp="1"/>
          </p:cNvSpPr>
          <p:nvPr>
            <p:ph type="sldNum" sz="quarter" idx="5"/>
          </p:nvPr>
        </p:nvSpPr>
        <p:spPr/>
        <p:txBody>
          <a:bodyPr/>
          <a:lstStyle/>
          <a:p>
            <a:fld id="{339AB5C0-8D71-4250-8AD2-76EE22722959}" type="slidenum">
              <a:rPr lang="en-GB" smtClean="0"/>
              <a:t>7</a:t>
            </a:fld>
            <a:endParaRPr lang="en-GB"/>
          </a:p>
        </p:txBody>
      </p:sp>
    </p:spTree>
    <p:extLst>
      <p:ext uri="{BB962C8B-B14F-4D97-AF65-F5344CB8AC3E}">
        <p14:creationId xmlns:p14="http://schemas.microsoft.com/office/powerpoint/2010/main" val="1624805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4A269-5AE8-9590-DCC7-9890676E7E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21F157E-C3BE-9784-7A11-4C5C111EEE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47A0064-D3D7-4671-F3AA-71BDDD4FDE83}"/>
              </a:ext>
            </a:extLst>
          </p:cNvPr>
          <p:cNvSpPr>
            <a:spLocks noGrp="1"/>
          </p:cNvSpPr>
          <p:nvPr>
            <p:ph type="dt" sz="half" idx="10"/>
          </p:nvPr>
        </p:nvSpPr>
        <p:spPr/>
        <p:txBody>
          <a:bodyPr/>
          <a:lstStyle/>
          <a:p>
            <a:fld id="{B8C3C57F-C92A-483E-A8E5-2F94B59C9323}" type="datetimeFigureOut">
              <a:rPr lang="en-GB" smtClean="0"/>
              <a:t>24/11/2024</a:t>
            </a:fld>
            <a:endParaRPr lang="en-GB"/>
          </a:p>
        </p:txBody>
      </p:sp>
      <p:sp>
        <p:nvSpPr>
          <p:cNvPr id="5" name="Footer Placeholder 4">
            <a:extLst>
              <a:ext uri="{FF2B5EF4-FFF2-40B4-BE49-F238E27FC236}">
                <a16:creationId xmlns:a16="http://schemas.microsoft.com/office/drawing/2014/main" id="{8F074A90-A543-A4A5-78E1-8A4D6F45E1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4A6A39B-CB52-CB65-8F37-E519420F026F}"/>
              </a:ext>
            </a:extLst>
          </p:cNvPr>
          <p:cNvSpPr>
            <a:spLocks noGrp="1"/>
          </p:cNvSpPr>
          <p:nvPr>
            <p:ph type="sldNum" sz="quarter" idx="12"/>
          </p:nvPr>
        </p:nvSpPr>
        <p:spPr/>
        <p:txBody>
          <a:bodyPr/>
          <a:lstStyle/>
          <a:p>
            <a:fld id="{772C39E6-CAD2-43B2-991D-2DE2C2645A9F}" type="slidenum">
              <a:rPr lang="en-GB" smtClean="0"/>
              <a:t>‹#›</a:t>
            </a:fld>
            <a:endParaRPr lang="en-GB"/>
          </a:p>
        </p:txBody>
      </p:sp>
    </p:spTree>
    <p:extLst>
      <p:ext uri="{BB962C8B-B14F-4D97-AF65-F5344CB8AC3E}">
        <p14:creationId xmlns:p14="http://schemas.microsoft.com/office/powerpoint/2010/main" val="759791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344B0-F44B-BC44-4621-DFBFBFF78E6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F948BA3-59E1-0ACA-78A4-BFA5170DC5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4018B79-5DA7-9B4D-62C9-A9B9DE6DC972}"/>
              </a:ext>
            </a:extLst>
          </p:cNvPr>
          <p:cNvSpPr>
            <a:spLocks noGrp="1"/>
          </p:cNvSpPr>
          <p:nvPr>
            <p:ph type="dt" sz="half" idx="10"/>
          </p:nvPr>
        </p:nvSpPr>
        <p:spPr/>
        <p:txBody>
          <a:bodyPr/>
          <a:lstStyle/>
          <a:p>
            <a:fld id="{B8C3C57F-C92A-483E-A8E5-2F94B59C9323}" type="datetimeFigureOut">
              <a:rPr lang="en-GB" smtClean="0"/>
              <a:t>24/11/2024</a:t>
            </a:fld>
            <a:endParaRPr lang="en-GB"/>
          </a:p>
        </p:txBody>
      </p:sp>
      <p:sp>
        <p:nvSpPr>
          <p:cNvPr id="5" name="Footer Placeholder 4">
            <a:extLst>
              <a:ext uri="{FF2B5EF4-FFF2-40B4-BE49-F238E27FC236}">
                <a16:creationId xmlns:a16="http://schemas.microsoft.com/office/drawing/2014/main" id="{CC041498-BD25-EB5A-B7E0-9F69B5AACEA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48CBBF-7C1F-DB0F-7C3E-B03D2B430BEB}"/>
              </a:ext>
            </a:extLst>
          </p:cNvPr>
          <p:cNvSpPr>
            <a:spLocks noGrp="1"/>
          </p:cNvSpPr>
          <p:nvPr>
            <p:ph type="sldNum" sz="quarter" idx="12"/>
          </p:nvPr>
        </p:nvSpPr>
        <p:spPr/>
        <p:txBody>
          <a:bodyPr/>
          <a:lstStyle/>
          <a:p>
            <a:fld id="{772C39E6-CAD2-43B2-991D-2DE2C2645A9F}" type="slidenum">
              <a:rPr lang="en-GB" smtClean="0"/>
              <a:t>‹#›</a:t>
            </a:fld>
            <a:endParaRPr lang="en-GB"/>
          </a:p>
        </p:txBody>
      </p:sp>
    </p:spTree>
    <p:extLst>
      <p:ext uri="{BB962C8B-B14F-4D97-AF65-F5344CB8AC3E}">
        <p14:creationId xmlns:p14="http://schemas.microsoft.com/office/powerpoint/2010/main" val="2442079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75303-F02B-4BA7-6F80-777EF3F48F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38D2542-4634-DF42-0F22-CA0C37E328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E193E9-DE39-13B2-68BC-41019A845843}"/>
              </a:ext>
            </a:extLst>
          </p:cNvPr>
          <p:cNvSpPr>
            <a:spLocks noGrp="1"/>
          </p:cNvSpPr>
          <p:nvPr>
            <p:ph type="dt" sz="half" idx="10"/>
          </p:nvPr>
        </p:nvSpPr>
        <p:spPr/>
        <p:txBody>
          <a:bodyPr/>
          <a:lstStyle/>
          <a:p>
            <a:fld id="{B8C3C57F-C92A-483E-A8E5-2F94B59C9323}" type="datetimeFigureOut">
              <a:rPr lang="en-GB" smtClean="0"/>
              <a:t>24/11/2024</a:t>
            </a:fld>
            <a:endParaRPr lang="en-GB"/>
          </a:p>
        </p:txBody>
      </p:sp>
      <p:sp>
        <p:nvSpPr>
          <p:cNvPr id="5" name="Footer Placeholder 4">
            <a:extLst>
              <a:ext uri="{FF2B5EF4-FFF2-40B4-BE49-F238E27FC236}">
                <a16:creationId xmlns:a16="http://schemas.microsoft.com/office/drawing/2014/main" id="{5A32CBDB-D82F-EE87-3053-6FEF2874524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1FA3069-2793-956D-1E92-FAB2BF993809}"/>
              </a:ext>
            </a:extLst>
          </p:cNvPr>
          <p:cNvSpPr>
            <a:spLocks noGrp="1"/>
          </p:cNvSpPr>
          <p:nvPr>
            <p:ph type="sldNum" sz="quarter" idx="12"/>
          </p:nvPr>
        </p:nvSpPr>
        <p:spPr/>
        <p:txBody>
          <a:bodyPr/>
          <a:lstStyle/>
          <a:p>
            <a:fld id="{772C39E6-CAD2-43B2-991D-2DE2C2645A9F}" type="slidenum">
              <a:rPr lang="en-GB" smtClean="0"/>
              <a:t>‹#›</a:t>
            </a:fld>
            <a:endParaRPr lang="en-GB"/>
          </a:p>
        </p:txBody>
      </p:sp>
    </p:spTree>
    <p:extLst>
      <p:ext uri="{BB962C8B-B14F-4D97-AF65-F5344CB8AC3E}">
        <p14:creationId xmlns:p14="http://schemas.microsoft.com/office/powerpoint/2010/main" val="3770360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33B91-0CF1-BF89-8CC6-EB71EA645B5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25C8786-6211-BC53-5D92-DFFCC78A13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886FDA3-409F-F1D2-5E28-263519724A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6CA2EE4-B849-D250-1145-08E7190D62B1}"/>
              </a:ext>
            </a:extLst>
          </p:cNvPr>
          <p:cNvSpPr>
            <a:spLocks noGrp="1"/>
          </p:cNvSpPr>
          <p:nvPr>
            <p:ph type="dt" sz="half" idx="10"/>
          </p:nvPr>
        </p:nvSpPr>
        <p:spPr/>
        <p:txBody>
          <a:bodyPr/>
          <a:lstStyle/>
          <a:p>
            <a:fld id="{B8C3C57F-C92A-483E-A8E5-2F94B59C9323}" type="datetimeFigureOut">
              <a:rPr lang="en-GB" smtClean="0"/>
              <a:t>24/11/2024</a:t>
            </a:fld>
            <a:endParaRPr lang="en-GB"/>
          </a:p>
        </p:txBody>
      </p:sp>
      <p:sp>
        <p:nvSpPr>
          <p:cNvPr id="6" name="Footer Placeholder 5">
            <a:extLst>
              <a:ext uri="{FF2B5EF4-FFF2-40B4-BE49-F238E27FC236}">
                <a16:creationId xmlns:a16="http://schemas.microsoft.com/office/drawing/2014/main" id="{69C9BCD2-4FE6-A729-9DEB-E55CFF2A375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9B332C2-3ED4-E1D6-0530-6487B7A8DF02}"/>
              </a:ext>
            </a:extLst>
          </p:cNvPr>
          <p:cNvSpPr>
            <a:spLocks noGrp="1"/>
          </p:cNvSpPr>
          <p:nvPr>
            <p:ph type="sldNum" sz="quarter" idx="12"/>
          </p:nvPr>
        </p:nvSpPr>
        <p:spPr/>
        <p:txBody>
          <a:bodyPr/>
          <a:lstStyle/>
          <a:p>
            <a:fld id="{772C39E6-CAD2-43B2-991D-2DE2C2645A9F}" type="slidenum">
              <a:rPr lang="en-GB" smtClean="0"/>
              <a:t>‹#›</a:t>
            </a:fld>
            <a:endParaRPr lang="en-GB"/>
          </a:p>
        </p:txBody>
      </p:sp>
    </p:spTree>
    <p:extLst>
      <p:ext uri="{BB962C8B-B14F-4D97-AF65-F5344CB8AC3E}">
        <p14:creationId xmlns:p14="http://schemas.microsoft.com/office/powerpoint/2010/main" val="250623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F3E5F-1FB6-13C6-C7F4-EB9B245F1BF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084CB1-4079-AC7D-32DF-F82585545F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231250-0482-53E1-744C-1D983130F7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D585D79-C408-76CC-D58D-D65BB8D478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ECE2C5-3C19-4162-8BA5-680E9C28A0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5A8DB51-E808-B626-634E-51319CC52C54}"/>
              </a:ext>
            </a:extLst>
          </p:cNvPr>
          <p:cNvSpPr>
            <a:spLocks noGrp="1"/>
          </p:cNvSpPr>
          <p:nvPr>
            <p:ph type="dt" sz="half" idx="10"/>
          </p:nvPr>
        </p:nvSpPr>
        <p:spPr/>
        <p:txBody>
          <a:bodyPr/>
          <a:lstStyle/>
          <a:p>
            <a:fld id="{B8C3C57F-C92A-483E-A8E5-2F94B59C9323}" type="datetimeFigureOut">
              <a:rPr lang="en-GB" smtClean="0"/>
              <a:t>24/11/2024</a:t>
            </a:fld>
            <a:endParaRPr lang="en-GB"/>
          </a:p>
        </p:txBody>
      </p:sp>
      <p:sp>
        <p:nvSpPr>
          <p:cNvPr id="8" name="Footer Placeholder 7">
            <a:extLst>
              <a:ext uri="{FF2B5EF4-FFF2-40B4-BE49-F238E27FC236}">
                <a16:creationId xmlns:a16="http://schemas.microsoft.com/office/drawing/2014/main" id="{CF492F4E-DF88-23CE-539C-54D951290C1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218D2CC-F632-2C97-E571-C4BEEE7B8AA9}"/>
              </a:ext>
            </a:extLst>
          </p:cNvPr>
          <p:cNvSpPr>
            <a:spLocks noGrp="1"/>
          </p:cNvSpPr>
          <p:nvPr>
            <p:ph type="sldNum" sz="quarter" idx="12"/>
          </p:nvPr>
        </p:nvSpPr>
        <p:spPr/>
        <p:txBody>
          <a:bodyPr/>
          <a:lstStyle/>
          <a:p>
            <a:fld id="{772C39E6-CAD2-43B2-991D-2DE2C2645A9F}" type="slidenum">
              <a:rPr lang="en-GB" smtClean="0"/>
              <a:t>‹#›</a:t>
            </a:fld>
            <a:endParaRPr lang="en-GB"/>
          </a:p>
        </p:txBody>
      </p:sp>
    </p:spTree>
    <p:extLst>
      <p:ext uri="{BB962C8B-B14F-4D97-AF65-F5344CB8AC3E}">
        <p14:creationId xmlns:p14="http://schemas.microsoft.com/office/powerpoint/2010/main" val="4068390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6E0DA-48C7-A9ED-CC80-F9A288DD1EC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CA575E9-483B-090D-E9F0-9498A2562F83}"/>
              </a:ext>
            </a:extLst>
          </p:cNvPr>
          <p:cNvSpPr>
            <a:spLocks noGrp="1"/>
          </p:cNvSpPr>
          <p:nvPr>
            <p:ph type="dt" sz="half" idx="10"/>
          </p:nvPr>
        </p:nvSpPr>
        <p:spPr/>
        <p:txBody>
          <a:bodyPr/>
          <a:lstStyle/>
          <a:p>
            <a:fld id="{B8C3C57F-C92A-483E-A8E5-2F94B59C9323}" type="datetimeFigureOut">
              <a:rPr lang="en-GB" smtClean="0"/>
              <a:t>24/11/2024</a:t>
            </a:fld>
            <a:endParaRPr lang="en-GB"/>
          </a:p>
        </p:txBody>
      </p:sp>
      <p:sp>
        <p:nvSpPr>
          <p:cNvPr id="4" name="Footer Placeholder 3">
            <a:extLst>
              <a:ext uri="{FF2B5EF4-FFF2-40B4-BE49-F238E27FC236}">
                <a16:creationId xmlns:a16="http://schemas.microsoft.com/office/drawing/2014/main" id="{28201D19-6781-33F6-A2AC-70DDFE9D611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761EACB-7B57-ACE9-27FD-C06AC1AE8A7A}"/>
              </a:ext>
            </a:extLst>
          </p:cNvPr>
          <p:cNvSpPr>
            <a:spLocks noGrp="1"/>
          </p:cNvSpPr>
          <p:nvPr>
            <p:ph type="sldNum" sz="quarter" idx="12"/>
          </p:nvPr>
        </p:nvSpPr>
        <p:spPr/>
        <p:txBody>
          <a:bodyPr/>
          <a:lstStyle/>
          <a:p>
            <a:fld id="{772C39E6-CAD2-43B2-991D-2DE2C2645A9F}" type="slidenum">
              <a:rPr lang="en-GB" smtClean="0"/>
              <a:t>‹#›</a:t>
            </a:fld>
            <a:endParaRPr lang="en-GB"/>
          </a:p>
        </p:txBody>
      </p:sp>
    </p:spTree>
    <p:extLst>
      <p:ext uri="{BB962C8B-B14F-4D97-AF65-F5344CB8AC3E}">
        <p14:creationId xmlns:p14="http://schemas.microsoft.com/office/powerpoint/2010/main" val="3179973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805B12-C1D3-CD71-4F2B-084E242DBEB3}"/>
              </a:ext>
            </a:extLst>
          </p:cNvPr>
          <p:cNvSpPr>
            <a:spLocks noGrp="1"/>
          </p:cNvSpPr>
          <p:nvPr>
            <p:ph type="dt" sz="half" idx="10"/>
          </p:nvPr>
        </p:nvSpPr>
        <p:spPr/>
        <p:txBody>
          <a:bodyPr/>
          <a:lstStyle/>
          <a:p>
            <a:fld id="{B8C3C57F-C92A-483E-A8E5-2F94B59C9323}" type="datetimeFigureOut">
              <a:rPr lang="en-GB" smtClean="0"/>
              <a:t>24/11/2024</a:t>
            </a:fld>
            <a:endParaRPr lang="en-GB"/>
          </a:p>
        </p:txBody>
      </p:sp>
      <p:sp>
        <p:nvSpPr>
          <p:cNvPr id="3" name="Footer Placeholder 2">
            <a:extLst>
              <a:ext uri="{FF2B5EF4-FFF2-40B4-BE49-F238E27FC236}">
                <a16:creationId xmlns:a16="http://schemas.microsoft.com/office/drawing/2014/main" id="{261B6155-D26D-4589-7DF3-95BE79D0B20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3DD13DD-7AF5-F736-7739-BD8D535D0236}"/>
              </a:ext>
            </a:extLst>
          </p:cNvPr>
          <p:cNvSpPr>
            <a:spLocks noGrp="1"/>
          </p:cNvSpPr>
          <p:nvPr>
            <p:ph type="sldNum" sz="quarter" idx="12"/>
          </p:nvPr>
        </p:nvSpPr>
        <p:spPr/>
        <p:txBody>
          <a:bodyPr/>
          <a:lstStyle/>
          <a:p>
            <a:fld id="{772C39E6-CAD2-43B2-991D-2DE2C2645A9F}" type="slidenum">
              <a:rPr lang="en-GB" smtClean="0"/>
              <a:t>‹#›</a:t>
            </a:fld>
            <a:endParaRPr lang="en-GB"/>
          </a:p>
        </p:txBody>
      </p:sp>
    </p:spTree>
    <p:extLst>
      <p:ext uri="{BB962C8B-B14F-4D97-AF65-F5344CB8AC3E}">
        <p14:creationId xmlns:p14="http://schemas.microsoft.com/office/powerpoint/2010/main" val="4244945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0A568-7B9C-0EFA-0BF7-28DE3FE1F6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6E0578A-0B1D-2D6B-8ED3-2169ABA43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7A1CE73-4A1E-3417-053A-F5F70F583A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949FFC-F144-09D0-6B06-F66E86EE8E1B}"/>
              </a:ext>
            </a:extLst>
          </p:cNvPr>
          <p:cNvSpPr>
            <a:spLocks noGrp="1"/>
          </p:cNvSpPr>
          <p:nvPr>
            <p:ph type="dt" sz="half" idx="10"/>
          </p:nvPr>
        </p:nvSpPr>
        <p:spPr/>
        <p:txBody>
          <a:bodyPr/>
          <a:lstStyle/>
          <a:p>
            <a:fld id="{B8C3C57F-C92A-483E-A8E5-2F94B59C9323}" type="datetimeFigureOut">
              <a:rPr lang="en-GB" smtClean="0"/>
              <a:t>24/11/2024</a:t>
            </a:fld>
            <a:endParaRPr lang="en-GB"/>
          </a:p>
        </p:txBody>
      </p:sp>
      <p:sp>
        <p:nvSpPr>
          <p:cNvPr id="6" name="Footer Placeholder 5">
            <a:extLst>
              <a:ext uri="{FF2B5EF4-FFF2-40B4-BE49-F238E27FC236}">
                <a16:creationId xmlns:a16="http://schemas.microsoft.com/office/drawing/2014/main" id="{7ED94071-F8B3-4475-E773-B4C0477A59C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4C435CB-6FCD-F35E-5F06-3FF54D4A9EF0}"/>
              </a:ext>
            </a:extLst>
          </p:cNvPr>
          <p:cNvSpPr>
            <a:spLocks noGrp="1"/>
          </p:cNvSpPr>
          <p:nvPr>
            <p:ph type="sldNum" sz="quarter" idx="12"/>
          </p:nvPr>
        </p:nvSpPr>
        <p:spPr/>
        <p:txBody>
          <a:bodyPr/>
          <a:lstStyle/>
          <a:p>
            <a:fld id="{772C39E6-CAD2-43B2-991D-2DE2C2645A9F}" type="slidenum">
              <a:rPr lang="en-GB" smtClean="0"/>
              <a:t>‹#›</a:t>
            </a:fld>
            <a:endParaRPr lang="en-GB"/>
          </a:p>
        </p:txBody>
      </p:sp>
    </p:spTree>
    <p:extLst>
      <p:ext uri="{BB962C8B-B14F-4D97-AF65-F5344CB8AC3E}">
        <p14:creationId xmlns:p14="http://schemas.microsoft.com/office/powerpoint/2010/main" val="2780490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D1A9C-1329-A56F-2537-D8E5DFA0A4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9CCF3AA-3445-6E97-290F-6A3C26AE0D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F84BC6D-12B7-9C4B-BEEF-E9EBFE9E75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D1E670-C2F8-AB48-68EF-2B320141F296}"/>
              </a:ext>
            </a:extLst>
          </p:cNvPr>
          <p:cNvSpPr>
            <a:spLocks noGrp="1"/>
          </p:cNvSpPr>
          <p:nvPr>
            <p:ph type="dt" sz="half" idx="10"/>
          </p:nvPr>
        </p:nvSpPr>
        <p:spPr/>
        <p:txBody>
          <a:bodyPr/>
          <a:lstStyle/>
          <a:p>
            <a:fld id="{B8C3C57F-C92A-483E-A8E5-2F94B59C9323}" type="datetimeFigureOut">
              <a:rPr lang="en-GB" smtClean="0"/>
              <a:t>24/11/2024</a:t>
            </a:fld>
            <a:endParaRPr lang="en-GB"/>
          </a:p>
        </p:txBody>
      </p:sp>
      <p:sp>
        <p:nvSpPr>
          <p:cNvPr id="6" name="Footer Placeholder 5">
            <a:extLst>
              <a:ext uri="{FF2B5EF4-FFF2-40B4-BE49-F238E27FC236}">
                <a16:creationId xmlns:a16="http://schemas.microsoft.com/office/drawing/2014/main" id="{E96FD70B-3326-297B-352C-E9D50E281A8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0B2D117-A90C-3474-0A9A-3202742C7A82}"/>
              </a:ext>
            </a:extLst>
          </p:cNvPr>
          <p:cNvSpPr>
            <a:spLocks noGrp="1"/>
          </p:cNvSpPr>
          <p:nvPr>
            <p:ph type="sldNum" sz="quarter" idx="12"/>
          </p:nvPr>
        </p:nvSpPr>
        <p:spPr/>
        <p:txBody>
          <a:bodyPr/>
          <a:lstStyle/>
          <a:p>
            <a:fld id="{772C39E6-CAD2-43B2-991D-2DE2C2645A9F}" type="slidenum">
              <a:rPr lang="en-GB" smtClean="0"/>
              <a:t>‹#›</a:t>
            </a:fld>
            <a:endParaRPr lang="en-GB"/>
          </a:p>
        </p:txBody>
      </p:sp>
    </p:spTree>
    <p:extLst>
      <p:ext uri="{BB962C8B-B14F-4D97-AF65-F5344CB8AC3E}">
        <p14:creationId xmlns:p14="http://schemas.microsoft.com/office/powerpoint/2010/main" val="640041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962BD-3C37-D003-3EE2-054EC79D3FB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4CF2F28-F84B-8816-4FEA-71A6D32CF3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1885994-D9F3-ED6C-3FA9-4679CB1DD20F}"/>
              </a:ext>
            </a:extLst>
          </p:cNvPr>
          <p:cNvSpPr>
            <a:spLocks noGrp="1"/>
          </p:cNvSpPr>
          <p:nvPr>
            <p:ph type="dt" sz="half" idx="10"/>
          </p:nvPr>
        </p:nvSpPr>
        <p:spPr/>
        <p:txBody>
          <a:bodyPr/>
          <a:lstStyle/>
          <a:p>
            <a:fld id="{B8C3C57F-C92A-483E-A8E5-2F94B59C9323}" type="datetimeFigureOut">
              <a:rPr lang="en-GB" smtClean="0"/>
              <a:t>24/11/2024</a:t>
            </a:fld>
            <a:endParaRPr lang="en-GB"/>
          </a:p>
        </p:txBody>
      </p:sp>
      <p:sp>
        <p:nvSpPr>
          <p:cNvPr id="5" name="Footer Placeholder 4">
            <a:extLst>
              <a:ext uri="{FF2B5EF4-FFF2-40B4-BE49-F238E27FC236}">
                <a16:creationId xmlns:a16="http://schemas.microsoft.com/office/drawing/2014/main" id="{4935D7EA-4ED0-2188-805B-FB08003825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9C83693-FFA7-02E2-BC83-E50ACB8A76E2}"/>
              </a:ext>
            </a:extLst>
          </p:cNvPr>
          <p:cNvSpPr>
            <a:spLocks noGrp="1"/>
          </p:cNvSpPr>
          <p:nvPr>
            <p:ph type="sldNum" sz="quarter" idx="12"/>
          </p:nvPr>
        </p:nvSpPr>
        <p:spPr/>
        <p:txBody>
          <a:bodyPr/>
          <a:lstStyle/>
          <a:p>
            <a:fld id="{772C39E6-CAD2-43B2-991D-2DE2C2645A9F}" type="slidenum">
              <a:rPr lang="en-GB" smtClean="0"/>
              <a:t>‹#›</a:t>
            </a:fld>
            <a:endParaRPr lang="en-GB"/>
          </a:p>
        </p:txBody>
      </p:sp>
    </p:spTree>
    <p:extLst>
      <p:ext uri="{BB962C8B-B14F-4D97-AF65-F5344CB8AC3E}">
        <p14:creationId xmlns:p14="http://schemas.microsoft.com/office/powerpoint/2010/main" val="2094785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557076-BF26-873C-2810-4A6BA2A710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E800107-5A74-BF00-0208-E9C0CDED56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80BDE91-8602-55EC-C697-946321BB8C63}"/>
              </a:ext>
            </a:extLst>
          </p:cNvPr>
          <p:cNvSpPr>
            <a:spLocks noGrp="1"/>
          </p:cNvSpPr>
          <p:nvPr>
            <p:ph type="dt" sz="half" idx="10"/>
          </p:nvPr>
        </p:nvSpPr>
        <p:spPr/>
        <p:txBody>
          <a:bodyPr/>
          <a:lstStyle/>
          <a:p>
            <a:fld id="{B8C3C57F-C92A-483E-A8E5-2F94B59C9323}" type="datetimeFigureOut">
              <a:rPr lang="en-GB" smtClean="0"/>
              <a:t>24/11/2024</a:t>
            </a:fld>
            <a:endParaRPr lang="en-GB"/>
          </a:p>
        </p:txBody>
      </p:sp>
      <p:sp>
        <p:nvSpPr>
          <p:cNvPr id="5" name="Footer Placeholder 4">
            <a:extLst>
              <a:ext uri="{FF2B5EF4-FFF2-40B4-BE49-F238E27FC236}">
                <a16:creationId xmlns:a16="http://schemas.microsoft.com/office/drawing/2014/main" id="{B5D91B15-27C7-4233-5901-4F00FDA80A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F8F06BA-6E22-97E4-FC84-1FC937810E60}"/>
              </a:ext>
            </a:extLst>
          </p:cNvPr>
          <p:cNvSpPr>
            <a:spLocks noGrp="1"/>
          </p:cNvSpPr>
          <p:nvPr>
            <p:ph type="sldNum" sz="quarter" idx="12"/>
          </p:nvPr>
        </p:nvSpPr>
        <p:spPr/>
        <p:txBody>
          <a:bodyPr/>
          <a:lstStyle/>
          <a:p>
            <a:fld id="{772C39E6-CAD2-43B2-991D-2DE2C2645A9F}" type="slidenum">
              <a:rPr lang="en-GB" smtClean="0"/>
              <a:t>‹#›</a:t>
            </a:fld>
            <a:endParaRPr lang="en-GB"/>
          </a:p>
        </p:txBody>
      </p:sp>
    </p:spTree>
    <p:extLst>
      <p:ext uri="{BB962C8B-B14F-4D97-AF65-F5344CB8AC3E}">
        <p14:creationId xmlns:p14="http://schemas.microsoft.com/office/powerpoint/2010/main" val="831440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F48AE4-5F0C-24CC-7437-58C986BBAC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E9A3C7B-08CD-8FD7-8217-8DF7285CD4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A22863-BB98-E95D-A5F9-4B93CC21DB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C3C57F-C92A-483E-A8E5-2F94B59C9323}" type="datetimeFigureOut">
              <a:rPr lang="en-GB" smtClean="0"/>
              <a:t>24/11/2024</a:t>
            </a:fld>
            <a:endParaRPr lang="en-GB"/>
          </a:p>
        </p:txBody>
      </p:sp>
      <p:sp>
        <p:nvSpPr>
          <p:cNvPr id="5" name="Footer Placeholder 4">
            <a:extLst>
              <a:ext uri="{FF2B5EF4-FFF2-40B4-BE49-F238E27FC236}">
                <a16:creationId xmlns:a16="http://schemas.microsoft.com/office/drawing/2014/main" id="{765CFB1F-00DC-6F7F-5F3E-48BC369C71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86F51B6-23BB-BDAD-E07F-8E9DAF178A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2C39E6-CAD2-43B2-991D-2DE2C2645A9F}" type="slidenum">
              <a:rPr lang="en-GB" smtClean="0"/>
              <a:t>‹#›</a:t>
            </a:fld>
            <a:endParaRPr lang="en-GB"/>
          </a:p>
        </p:txBody>
      </p:sp>
    </p:spTree>
    <p:extLst>
      <p:ext uri="{BB962C8B-B14F-4D97-AF65-F5344CB8AC3E}">
        <p14:creationId xmlns:p14="http://schemas.microsoft.com/office/powerpoint/2010/main" val="2982142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89A5C-8EAF-D622-9AD8-85747CADCDB5}"/>
              </a:ext>
            </a:extLst>
          </p:cNvPr>
          <p:cNvSpPr>
            <a:spLocks noGrp="1"/>
          </p:cNvSpPr>
          <p:nvPr>
            <p:ph type="ctrTitle"/>
          </p:nvPr>
        </p:nvSpPr>
        <p:spPr/>
        <p:txBody>
          <a:bodyPr/>
          <a:lstStyle/>
          <a:p>
            <a:r>
              <a:rPr lang="en-GB" dirty="0"/>
              <a:t>Acoustic Signatures of Quadcopter Propellers</a:t>
            </a:r>
          </a:p>
        </p:txBody>
      </p:sp>
      <p:sp>
        <p:nvSpPr>
          <p:cNvPr id="3" name="Subtitle 2">
            <a:extLst>
              <a:ext uri="{FF2B5EF4-FFF2-40B4-BE49-F238E27FC236}">
                <a16:creationId xmlns:a16="http://schemas.microsoft.com/office/drawing/2014/main" id="{2B757E4D-9D2A-E465-6BD0-4F479ABA0870}"/>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891820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B66DD-BA91-54D3-4B60-73B1C0960095}"/>
              </a:ext>
            </a:extLst>
          </p:cNvPr>
          <p:cNvSpPr>
            <a:spLocks noGrp="1"/>
          </p:cNvSpPr>
          <p:nvPr>
            <p:ph type="title"/>
          </p:nvPr>
        </p:nvSpPr>
        <p:spPr/>
        <p:txBody>
          <a:bodyPr/>
          <a:lstStyle/>
          <a:p>
            <a:r>
              <a:rPr lang="en-GB" dirty="0"/>
              <a:t>Context and application</a:t>
            </a:r>
          </a:p>
        </p:txBody>
      </p:sp>
      <p:sp>
        <p:nvSpPr>
          <p:cNvPr id="3" name="Content Placeholder 2">
            <a:extLst>
              <a:ext uri="{FF2B5EF4-FFF2-40B4-BE49-F238E27FC236}">
                <a16:creationId xmlns:a16="http://schemas.microsoft.com/office/drawing/2014/main" id="{E6F4A76D-A7FD-8847-FF28-6A5BE4C3D10B}"/>
              </a:ext>
            </a:extLst>
          </p:cNvPr>
          <p:cNvSpPr>
            <a:spLocks noGrp="1"/>
          </p:cNvSpPr>
          <p:nvPr>
            <p:ph idx="1"/>
          </p:nvPr>
        </p:nvSpPr>
        <p:spPr/>
        <p:txBody>
          <a:bodyPr/>
          <a:lstStyle/>
          <a:p>
            <a:endParaRPr lang="en-GB" dirty="0"/>
          </a:p>
          <a:p>
            <a:pPr marL="0" indent="0">
              <a:buNone/>
            </a:pPr>
            <a:r>
              <a:rPr lang="en-GB" dirty="0"/>
              <a:t>Public perception of drones is poor due to the annoying sound that they make.</a:t>
            </a:r>
          </a:p>
          <a:p>
            <a:pPr marL="0" indent="0">
              <a:buNone/>
            </a:pPr>
            <a:endParaRPr lang="en-GB" dirty="0"/>
          </a:p>
          <a:p>
            <a:pPr marL="0" indent="0">
              <a:buNone/>
            </a:pPr>
            <a:r>
              <a:rPr lang="en-GB" dirty="0"/>
              <a:t>This, and other legislative barriers, prevent the adoption of drone-based services in urban environments.</a:t>
            </a:r>
          </a:p>
          <a:p>
            <a:endParaRPr lang="en-GB" dirty="0"/>
          </a:p>
          <a:p>
            <a:pPr marL="0" indent="0">
              <a:buNone/>
            </a:pPr>
            <a:r>
              <a:rPr lang="en-GB" dirty="0"/>
              <a:t>Recent research has focused on optimising aerodynamic and aeroacoustics performance to overcome these barriers.</a:t>
            </a:r>
          </a:p>
          <a:p>
            <a:endParaRPr lang="en-GB" dirty="0"/>
          </a:p>
        </p:txBody>
      </p:sp>
    </p:spTree>
    <p:extLst>
      <p:ext uri="{BB962C8B-B14F-4D97-AF65-F5344CB8AC3E}">
        <p14:creationId xmlns:p14="http://schemas.microsoft.com/office/powerpoint/2010/main" val="3029635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D6236-4AA6-6861-46AD-140A40AA449A}"/>
              </a:ext>
            </a:extLst>
          </p:cNvPr>
          <p:cNvSpPr>
            <a:spLocks noGrp="1"/>
          </p:cNvSpPr>
          <p:nvPr>
            <p:ph type="title"/>
          </p:nvPr>
        </p:nvSpPr>
        <p:spPr>
          <a:xfrm>
            <a:off x="838200" y="0"/>
            <a:ext cx="10515600" cy="1325563"/>
          </a:xfrm>
        </p:spPr>
        <p:txBody>
          <a:bodyPr/>
          <a:lstStyle/>
          <a:p>
            <a:r>
              <a:rPr lang="en-GB" dirty="0"/>
              <a:t>Objectives</a:t>
            </a:r>
          </a:p>
        </p:txBody>
      </p:sp>
      <p:sp>
        <p:nvSpPr>
          <p:cNvPr id="3" name="Content Placeholder 2">
            <a:extLst>
              <a:ext uri="{FF2B5EF4-FFF2-40B4-BE49-F238E27FC236}">
                <a16:creationId xmlns:a16="http://schemas.microsoft.com/office/drawing/2014/main" id="{70DE358F-D7FF-016F-569C-6BD94603C062}"/>
              </a:ext>
            </a:extLst>
          </p:cNvPr>
          <p:cNvSpPr>
            <a:spLocks noGrp="1"/>
          </p:cNvSpPr>
          <p:nvPr>
            <p:ph idx="1"/>
          </p:nvPr>
        </p:nvSpPr>
        <p:spPr>
          <a:xfrm>
            <a:off x="838200" y="1325562"/>
            <a:ext cx="10515600" cy="5208491"/>
          </a:xfrm>
        </p:spPr>
        <p:txBody>
          <a:bodyPr>
            <a:normAutofit/>
          </a:bodyPr>
          <a:lstStyle/>
          <a:p>
            <a:r>
              <a:rPr lang="en-GB" dirty="0"/>
              <a:t>Design and build an experimental setup to measure</a:t>
            </a:r>
            <a:r>
              <a:rPr lang="en-GB" b="1" dirty="0"/>
              <a:t> aerodynamic performance</a:t>
            </a:r>
            <a:r>
              <a:rPr lang="en-GB" dirty="0"/>
              <a:t> and </a:t>
            </a:r>
            <a:r>
              <a:rPr lang="en-GB" b="1" dirty="0"/>
              <a:t>acoustic signatures </a:t>
            </a:r>
            <a:r>
              <a:rPr lang="en-GB" sz="2800" dirty="0"/>
              <a:t>of various propeller designs</a:t>
            </a:r>
          </a:p>
          <a:p>
            <a:endParaRPr lang="en-GB" dirty="0"/>
          </a:p>
          <a:p>
            <a:r>
              <a:rPr lang="en-GB" dirty="0"/>
              <a:t>Attribute </a:t>
            </a:r>
            <a:r>
              <a:rPr lang="en-US" dirty="0"/>
              <a:t>changes in the acoustic spectrum to flow phenomena caused by propeller geometry modifications</a:t>
            </a:r>
            <a:r>
              <a:rPr lang="en-GB" dirty="0"/>
              <a:t>.</a:t>
            </a:r>
          </a:p>
          <a:p>
            <a:endParaRPr lang="en-GB" dirty="0"/>
          </a:p>
          <a:p>
            <a:r>
              <a:rPr lang="en-GB" dirty="0"/>
              <a:t>Analyse psychoacoustic performance </a:t>
            </a:r>
          </a:p>
          <a:p>
            <a:endParaRPr lang="en-GB" sz="3200" dirty="0"/>
          </a:p>
        </p:txBody>
      </p:sp>
    </p:spTree>
    <p:extLst>
      <p:ext uri="{BB962C8B-B14F-4D97-AF65-F5344CB8AC3E}">
        <p14:creationId xmlns:p14="http://schemas.microsoft.com/office/powerpoint/2010/main" val="1513545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10573-6E57-F2A4-9CFE-D27D9B593DAB}"/>
              </a:ext>
            </a:extLst>
          </p:cNvPr>
          <p:cNvSpPr>
            <a:spLocks noGrp="1"/>
          </p:cNvSpPr>
          <p:nvPr>
            <p:ph type="title"/>
          </p:nvPr>
        </p:nvSpPr>
        <p:spPr>
          <a:xfrm>
            <a:off x="499202" y="152898"/>
            <a:ext cx="10515600" cy="1325563"/>
          </a:xfrm>
        </p:spPr>
        <p:txBody>
          <a:bodyPr/>
          <a:lstStyle/>
          <a:p>
            <a:r>
              <a:rPr lang="en-GB" dirty="0"/>
              <a:t>Propeller geometry</a:t>
            </a:r>
          </a:p>
        </p:txBody>
      </p:sp>
      <p:sp>
        <p:nvSpPr>
          <p:cNvPr id="3" name="Content Placeholder 2">
            <a:extLst>
              <a:ext uri="{FF2B5EF4-FFF2-40B4-BE49-F238E27FC236}">
                <a16:creationId xmlns:a16="http://schemas.microsoft.com/office/drawing/2014/main" id="{4340587A-2D0D-DEEE-A7B1-BA0FCA7A3B58}"/>
              </a:ext>
            </a:extLst>
          </p:cNvPr>
          <p:cNvSpPr>
            <a:spLocks noGrp="1"/>
          </p:cNvSpPr>
          <p:nvPr>
            <p:ph idx="1"/>
          </p:nvPr>
        </p:nvSpPr>
        <p:spPr>
          <a:xfrm>
            <a:off x="499202" y="1394845"/>
            <a:ext cx="10515600" cy="4906993"/>
          </a:xfrm>
        </p:spPr>
        <p:txBody>
          <a:bodyPr>
            <a:normAutofit/>
          </a:bodyPr>
          <a:lstStyle/>
          <a:p>
            <a:r>
              <a:rPr lang="en-GB" sz="3200" dirty="0"/>
              <a:t>Consideration for Toroidal designs</a:t>
            </a:r>
          </a:p>
          <a:p>
            <a:endParaRPr lang="en-GB" sz="3200" dirty="0"/>
          </a:p>
          <a:p>
            <a:r>
              <a:rPr lang="en-GB" sz="3200" dirty="0"/>
              <a:t>Previous research has covered:</a:t>
            </a:r>
          </a:p>
          <a:p>
            <a:pPr lvl="1"/>
            <a:r>
              <a:rPr lang="en-GB" sz="2800" dirty="0"/>
              <a:t>Tip geometry</a:t>
            </a:r>
          </a:p>
          <a:p>
            <a:pPr lvl="1"/>
            <a:r>
              <a:rPr lang="en-GB" sz="2800" dirty="0"/>
              <a:t>Blade sweep</a:t>
            </a:r>
          </a:p>
          <a:p>
            <a:pPr lvl="1"/>
            <a:r>
              <a:rPr lang="en-GB" sz="2800" dirty="0"/>
              <a:t>Blade spacing</a:t>
            </a:r>
          </a:p>
          <a:p>
            <a:pPr lvl="1"/>
            <a:r>
              <a:rPr lang="en-GB" sz="2800" dirty="0"/>
              <a:t>Trailing edge serrations</a:t>
            </a:r>
          </a:p>
          <a:p>
            <a:endParaRPr lang="en-GB" dirty="0"/>
          </a:p>
          <a:p>
            <a:r>
              <a:rPr lang="en-GB" dirty="0"/>
              <a:t>Varying blade span</a:t>
            </a:r>
          </a:p>
        </p:txBody>
      </p:sp>
      <p:sp>
        <p:nvSpPr>
          <p:cNvPr id="5" name="Rectangle 4">
            <a:extLst>
              <a:ext uri="{FF2B5EF4-FFF2-40B4-BE49-F238E27FC236}">
                <a16:creationId xmlns:a16="http://schemas.microsoft.com/office/drawing/2014/main" id="{590A1BD3-F005-347F-02C8-AFF37807D7C4}"/>
              </a:ext>
            </a:extLst>
          </p:cNvPr>
          <p:cNvSpPr/>
          <p:nvPr/>
        </p:nvSpPr>
        <p:spPr>
          <a:xfrm>
            <a:off x="7128290" y="332960"/>
            <a:ext cx="4942784" cy="57696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TOROIDAL PROPELLERS</a:t>
            </a:r>
          </a:p>
        </p:txBody>
      </p:sp>
      <p:pic>
        <p:nvPicPr>
          <p:cNvPr id="4" name="Picture 3">
            <a:extLst>
              <a:ext uri="{FF2B5EF4-FFF2-40B4-BE49-F238E27FC236}">
                <a16:creationId xmlns:a16="http://schemas.microsoft.com/office/drawing/2014/main" id="{8E28C63F-94ED-AE22-8F66-C521AF20E882}"/>
              </a:ext>
            </a:extLst>
          </p:cNvPr>
          <p:cNvPicPr>
            <a:picLocks noChangeAspect="1"/>
          </p:cNvPicPr>
          <p:nvPr/>
        </p:nvPicPr>
        <p:blipFill>
          <a:blip r:embed="rId2"/>
          <a:stretch>
            <a:fillRect/>
          </a:stretch>
        </p:blipFill>
        <p:spPr>
          <a:xfrm>
            <a:off x="6607124" y="3655269"/>
            <a:ext cx="5336037" cy="3001521"/>
          </a:xfrm>
          <a:prstGeom prst="rect">
            <a:avLst/>
          </a:prstGeom>
        </p:spPr>
      </p:pic>
    </p:spTree>
    <p:extLst>
      <p:ext uri="{BB962C8B-B14F-4D97-AF65-F5344CB8AC3E}">
        <p14:creationId xmlns:p14="http://schemas.microsoft.com/office/powerpoint/2010/main" val="3559493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25F83-4A70-EC07-83C3-28018AF71971}"/>
              </a:ext>
            </a:extLst>
          </p:cNvPr>
          <p:cNvSpPr>
            <a:spLocks noGrp="1"/>
          </p:cNvSpPr>
          <p:nvPr>
            <p:ph type="title"/>
          </p:nvPr>
        </p:nvSpPr>
        <p:spPr/>
        <p:txBody>
          <a:bodyPr/>
          <a:lstStyle/>
          <a:p>
            <a:r>
              <a:rPr lang="en-GB" dirty="0"/>
              <a:t>Hypothesis</a:t>
            </a:r>
          </a:p>
        </p:txBody>
      </p:sp>
      <p:sp>
        <p:nvSpPr>
          <p:cNvPr id="3" name="Content Placeholder 2">
            <a:extLst>
              <a:ext uri="{FF2B5EF4-FFF2-40B4-BE49-F238E27FC236}">
                <a16:creationId xmlns:a16="http://schemas.microsoft.com/office/drawing/2014/main" id="{99292C3A-A61D-9091-F578-573CE6EE4B50}"/>
              </a:ext>
            </a:extLst>
          </p:cNvPr>
          <p:cNvSpPr>
            <a:spLocks noGrp="1"/>
          </p:cNvSpPr>
          <p:nvPr>
            <p:ph idx="1"/>
          </p:nvPr>
        </p:nvSpPr>
        <p:spPr/>
        <p:txBody>
          <a:bodyPr/>
          <a:lstStyle/>
          <a:p>
            <a:r>
              <a:rPr lang="en-GB" dirty="0"/>
              <a:t>Improvements in efficiency</a:t>
            </a:r>
          </a:p>
          <a:p>
            <a:endParaRPr lang="en-GB" dirty="0"/>
          </a:p>
        </p:txBody>
      </p:sp>
    </p:spTree>
    <p:extLst>
      <p:ext uri="{BB962C8B-B14F-4D97-AF65-F5344CB8AC3E}">
        <p14:creationId xmlns:p14="http://schemas.microsoft.com/office/powerpoint/2010/main" val="2928061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F8942-9360-F860-55C9-3090EA78559A}"/>
              </a:ext>
            </a:extLst>
          </p:cNvPr>
          <p:cNvSpPr>
            <a:spLocks noGrp="1"/>
          </p:cNvSpPr>
          <p:nvPr>
            <p:ph type="title"/>
          </p:nvPr>
        </p:nvSpPr>
        <p:spPr>
          <a:xfrm>
            <a:off x="695464" y="200087"/>
            <a:ext cx="10515600" cy="1325563"/>
          </a:xfrm>
        </p:spPr>
        <p:txBody>
          <a:bodyPr/>
          <a:lstStyle/>
          <a:p>
            <a:r>
              <a:rPr lang="en-GB" dirty="0"/>
              <a:t>Aerodynamic performance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9CDFD70-B897-4A43-D1BE-A1240A25FBB3}"/>
                  </a:ext>
                </a:extLst>
              </p:cNvPr>
              <p:cNvSpPr>
                <a:spLocks noGrp="1"/>
              </p:cNvSpPr>
              <p:nvPr>
                <p:ph idx="1"/>
              </p:nvPr>
            </p:nvSpPr>
            <p:spPr>
              <a:xfrm>
                <a:off x="838200" y="1633824"/>
                <a:ext cx="10515600" cy="4860646"/>
              </a:xfrm>
            </p:spPr>
            <p:txBody>
              <a:bodyPr/>
              <a:lstStyle/>
              <a:p>
                <a:r>
                  <a:rPr lang="en-GB" dirty="0"/>
                  <a:t>Aerodynamic performance quantities</a:t>
                </a:r>
              </a:p>
              <a:p>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𝑇</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𝑇</m:t>
                          </m:r>
                        </m:num>
                        <m:den>
                          <m:r>
                            <a:rPr lang="en-GB" b="0" i="1" smtClean="0">
                              <a:latin typeface="Cambria Math" panose="02040503050406030204" pitchFamily="18" charset="0"/>
                            </a:rPr>
                            <m:t>𝜌</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𝑁</m:t>
                              </m:r>
                            </m:e>
                            <m:sup>
                              <m:r>
                                <a:rPr lang="en-GB" b="0" i="1" smtClean="0">
                                  <a:latin typeface="Cambria Math" panose="02040503050406030204" pitchFamily="18" charset="0"/>
                                </a:rPr>
                                <m:t>2</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𝐷</m:t>
                              </m:r>
                            </m:e>
                            <m:sup>
                              <m:r>
                                <a:rPr lang="en-GB" b="0" i="1" smtClean="0">
                                  <a:latin typeface="Cambria Math" panose="02040503050406030204" pitchFamily="18" charset="0"/>
                                </a:rPr>
                                <m:t>4</m:t>
                              </m:r>
                            </m:sup>
                          </m:sSup>
                        </m:den>
                      </m:f>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𝐶</m:t>
                          </m:r>
                        </m:e>
                        <m:sub>
                          <m:r>
                            <a:rPr lang="en-GB" b="0" i="1" smtClean="0">
                              <a:latin typeface="Cambria Math" panose="02040503050406030204" pitchFamily="18" charset="0"/>
                            </a:rPr>
                            <m:t>𝑃</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𝑃</m:t>
                          </m:r>
                        </m:num>
                        <m:den>
                          <m:r>
                            <a:rPr lang="en-GB" b="0" i="1" smtClean="0">
                              <a:latin typeface="Cambria Math" panose="02040503050406030204" pitchFamily="18" charset="0"/>
                            </a:rPr>
                            <m:t>𝜌</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𝑁</m:t>
                              </m:r>
                            </m:e>
                            <m:sup>
                              <m:r>
                                <a:rPr lang="en-GB" b="0" i="1" smtClean="0">
                                  <a:latin typeface="Cambria Math" panose="02040503050406030204" pitchFamily="18" charset="0"/>
                                </a:rPr>
                                <m:t>3</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𝐷</m:t>
                              </m:r>
                            </m:e>
                            <m:sup>
                              <m:r>
                                <a:rPr lang="en-GB" b="0" i="1" smtClean="0">
                                  <a:latin typeface="Cambria Math" panose="02040503050406030204" pitchFamily="18" charset="0"/>
                                </a:rPr>
                                <m:t>5</m:t>
                              </m:r>
                            </m:sup>
                          </m:sSup>
                        </m:den>
                      </m:f>
                    </m:oMath>
                  </m:oMathPara>
                </a14:m>
                <a:endParaRPr lang="en-GB" dirty="0"/>
              </a:p>
              <a:p>
                <a:pPr marL="0" indent="0">
                  <a:buNone/>
                </a:pPr>
                <a:endParaRPr lang="en-GB" dirty="0"/>
              </a:p>
              <a:p>
                <a:pPr marL="0" indent="0">
                  <a:buNone/>
                </a:pPr>
                <a:r>
                  <a:rPr lang="en-GB" dirty="0"/>
                  <a:t>Power is obtained from </a:t>
                </a:r>
                <a14:m>
                  <m:oMath xmlns:m="http://schemas.openxmlformats.org/officeDocument/2006/math">
                    <m:r>
                      <a:rPr lang="en-GB" b="0" i="1" smtClean="0">
                        <a:latin typeface="Cambria Math" panose="02040503050406030204" pitchFamily="18" charset="0"/>
                      </a:rPr>
                      <m:t>𝜏</m:t>
                    </m:r>
                    <m:r>
                      <a:rPr lang="en-GB" b="0" i="1" smtClean="0">
                        <a:latin typeface="Cambria Math" panose="02040503050406030204" pitchFamily="18" charset="0"/>
                      </a:rPr>
                      <m:t>⋅2</m:t>
                    </m:r>
                    <m:r>
                      <a:rPr lang="en-GB" b="0" i="1" smtClean="0">
                        <a:latin typeface="Cambria Math" panose="02040503050406030204" pitchFamily="18" charset="0"/>
                      </a:rPr>
                      <m:t>𝜋</m:t>
                    </m:r>
                    <m:r>
                      <a:rPr lang="en-GB" b="0" i="1" smtClean="0">
                        <a:latin typeface="Cambria Math" panose="02040503050406030204" pitchFamily="18" charset="0"/>
                      </a:rPr>
                      <m:t>𝑁</m:t>
                    </m:r>
                  </m:oMath>
                </a14:m>
                <a:r>
                  <a:rPr lang="en-GB" dirty="0"/>
                  <a:t> </a:t>
                </a:r>
              </a:p>
              <a:p>
                <a:pPr marL="0" indent="0">
                  <a:buNone/>
                </a:pPr>
                <a:endParaRPr lang="en-GB" dirty="0"/>
              </a:p>
              <a:p>
                <a:pPr marL="0" indent="0">
                  <a:buNone/>
                </a:pPr>
                <a:r>
                  <a:rPr lang="en-GB" dirty="0"/>
                  <a:t>Require values for torque, thrust and angular speed.</a:t>
                </a:r>
              </a:p>
            </p:txBody>
          </p:sp>
        </mc:Choice>
        <mc:Fallback>
          <p:sp>
            <p:nvSpPr>
              <p:cNvPr id="3" name="Content Placeholder 2">
                <a:extLst>
                  <a:ext uri="{FF2B5EF4-FFF2-40B4-BE49-F238E27FC236}">
                    <a16:creationId xmlns:a16="http://schemas.microsoft.com/office/drawing/2014/main" id="{A9CDFD70-B897-4A43-D1BE-A1240A25FBB3}"/>
                  </a:ext>
                </a:extLst>
              </p:cNvPr>
              <p:cNvSpPr>
                <a:spLocks noGrp="1" noRot="1" noChangeAspect="1" noMove="1" noResize="1" noEditPoints="1" noAdjustHandles="1" noChangeArrowheads="1" noChangeShapeType="1" noTextEdit="1"/>
              </p:cNvSpPr>
              <p:nvPr>
                <p:ph idx="1"/>
              </p:nvPr>
            </p:nvSpPr>
            <p:spPr>
              <a:xfrm>
                <a:off x="838200" y="1633824"/>
                <a:ext cx="10515600" cy="4860646"/>
              </a:xfrm>
              <a:blipFill>
                <a:blip r:embed="rId3"/>
                <a:stretch>
                  <a:fillRect l="-1217" t="-2133"/>
                </a:stretch>
              </a:blipFill>
            </p:spPr>
            <p:txBody>
              <a:bodyPr/>
              <a:lstStyle/>
              <a:p>
                <a:r>
                  <a:rPr lang="en-GB">
                    <a:noFill/>
                  </a:rPr>
                  <a:t> </a:t>
                </a:r>
              </a:p>
            </p:txBody>
          </p:sp>
        </mc:Fallback>
      </mc:AlternateContent>
    </p:spTree>
    <p:extLst>
      <p:ext uri="{BB962C8B-B14F-4D97-AF65-F5344CB8AC3E}">
        <p14:creationId xmlns:p14="http://schemas.microsoft.com/office/powerpoint/2010/main" val="4244570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D9AC5-0EC4-38D7-8E7D-41944460A213}"/>
              </a:ext>
            </a:extLst>
          </p:cNvPr>
          <p:cNvSpPr>
            <a:spLocks noGrp="1"/>
          </p:cNvSpPr>
          <p:nvPr>
            <p:ph type="title"/>
          </p:nvPr>
        </p:nvSpPr>
        <p:spPr>
          <a:xfrm>
            <a:off x="614570" y="231946"/>
            <a:ext cx="10515600" cy="1325563"/>
          </a:xfrm>
        </p:spPr>
        <p:txBody>
          <a:bodyPr/>
          <a:lstStyle/>
          <a:p>
            <a:r>
              <a:rPr lang="en-GB" dirty="0"/>
              <a:t>Aerodynamic measurements</a:t>
            </a:r>
          </a:p>
        </p:txBody>
      </p:sp>
      <p:sp>
        <p:nvSpPr>
          <p:cNvPr id="3" name="Content Placeholder 2">
            <a:extLst>
              <a:ext uri="{FF2B5EF4-FFF2-40B4-BE49-F238E27FC236}">
                <a16:creationId xmlns:a16="http://schemas.microsoft.com/office/drawing/2014/main" id="{9C7375A3-69B7-413F-69EC-A8BA51B8A28B}"/>
              </a:ext>
            </a:extLst>
          </p:cNvPr>
          <p:cNvSpPr>
            <a:spLocks noGrp="1"/>
          </p:cNvSpPr>
          <p:nvPr>
            <p:ph idx="1"/>
          </p:nvPr>
        </p:nvSpPr>
        <p:spPr>
          <a:xfrm>
            <a:off x="569845" y="1756051"/>
            <a:ext cx="5304181" cy="4629840"/>
          </a:xfrm>
        </p:spPr>
        <p:txBody>
          <a:bodyPr>
            <a:normAutofit/>
          </a:bodyPr>
          <a:lstStyle/>
          <a:p>
            <a:pPr marL="0" indent="0">
              <a:buNone/>
            </a:pPr>
            <a:r>
              <a:rPr lang="en-GB" dirty="0"/>
              <a:t>Torque and thrust measured by strain gauge load cells</a:t>
            </a:r>
          </a:p>
          <a:p>
            <a:pPr marL="0" indent="0">
              <a:buNone/>
            </a:pPr>
            <a:endParaRPr lang="en-GB" dirty="0"/>
          </a:p>
          <a:p>
            <a:pPr marL="0" indent="0">
              <a:buNone/>
            </a:pPr>
            <a:r>
              <a:rPr lang="en-GB" dirty="0"/>
              <a:t>Full bridge cantilever models selected for sensitivity and resistance to off-axis forces</a:t>
            </a:r>
          </a:p>
          <a:p>
            <a:pPr marL="0" indent="0">
              <a:buNone/>
            </a:pPr>
            <a:endParaRPr lang="en-GB" dirty="0"/>
          </a:p>
          <a:p>
            <a:pPr marL="0" indent="0">
              <a:buNone/>
            </a:pPr>
            <a:r>
              <a:rPr lang="en-GB" dirty="0"/>
              <a:t>Orientation selected for accuracy, and ease of calibration</a:t>
            </a:r>
          </a:p>
        </p:txBody>
      </p:sp>
      <p:sp>
        <p:nvSpPr>
          <p:cNvPr id="7" name="Rectangle 6">
            <a:extLst>
              <a:ext uri="{FF2B5EF4-FFF2-40B4-BE49-F238E27FC236}">
                <a16:creationId xmlns:a16="http://schemas.microsoft.com/office/drawing/2014/main" id="{CA5045A9-E972-F760-9683-4A4D6E4619BE}"/>
              </a:ext>
            </a:extLst>
          </p:cNvPr>
          <p:cNvSpPr/>
          <p:nvPr/>
        </p:nvSpPr>
        <p:spPr>
          <a:xfrm>
            <a:off x="6157291" y="1232452"/>
            <a:ext cx="5680213" cy="53174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CAD</a:t>
            </a:r>
          </a:p>
        </p:txBody>
      </p:sp>
    </p:spTree>
    <p:extLst>
      <p:ext uri="{BB962C8B-B14F-4D97-AF65-F5344CB8AC3E}">
        <p14:creationId xmlns:p14="http://schemas.microsoft.com/office/powerpoint/2010/main" val="2695031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53C29-8BE0-FA3F-BADF-EB4F5C5E7059}"/>
              </a:ext>
            </a:extLst>
          </p:cNvPr>
          <p:cNvSpPr>
            <a:spLocks noGrp="1"/>
          </p:cNvSpPr>
          <p:nvPr>
            <p:ph type="title"/>
          </p:nvPr>
        </p:nvSpPr>
        <p:spPr/>
        <p:txBody>
          <a:bodyPr/>
          <a:lstStyle/>
          <a:p>
            <a:r>
              <a:rPr lang="en-GB" dirty="0"/>
              <a:t>Acoustic performance</a:t>
            </a:r>
          </a:p>
        </p:txBody>
      </p:sp>
      <p:sp>
        <p:nvSpPr>
          <p:cNvPr id="3" name="Content Placeholder 2">
            <a:extLst>
              <a:ext uri="{FF2B5EF4-FFF2-40B4-BE49-F238E27FC236}">
                <a16:creationId xmlns:a16="http://schemas.microsoft.com/office/drawing/2014/main" id="{5C5C9FEE-F51C-BBC5-5750-D5F85AFD1F9B}"/>
              </a:ext>
            </a:extLst>
          </p:cNvPr>
          <p:cNvSpPr>
            <a:spLocks noGrp="1"/>
          </p:cNvSpPr>
          <p:nvPr>
            <p:ph idx="1"/>
          </p:nvPr>
        </p:nvSpPr>
        <p:spPr/>
        <p:txBody>
          <a:bodyPr>
            <a:normAutofit/>
          </a:bodyPr>
          <a:lstStyle/>
          <a:p>
            <a:pPr marL="0" indent="0">
              <a:buNone/>
            </a:pPr>
            <a:r>
              <a:rPr lang="en-GB" dirty="0"/>
              <a:t>To quantify the annoyance of sound the psychoacoustics must be considered</a:t>
            </a:r>
          </a:p>
          <a:p>
            <a:pPr marL="0" indent="0">
              <a:buNone/>
            </a:pPr>
            <a:endParaRPr lang="en-GB" dirty="0"/>
          </a:p>
          <a:p>
            <a:pPr marL="0" indent="0">
              <a:buNone/>
            </a:pPr>
            <a:r>
              <a:rPr lang="en-GB" dirty="0"/>
              <a:t>P</a:t>
            </a:r>
            <a:r>
              <a:rPr lang="en-US" dirty="0" err="1"/>
              <a:t>sychoacoustic</a:t>
            </a:r>
            <a:r>
              <a:rPr lang="en-US" dirty="0"/>
              <a:t> metrics of loudness, fluctuation strength, roughness, sharpness, tonality</a:t>
            </a:r>
            <a:endParaRPr lang="en-GB" dirty="0"/>
          </a:p>
        </p:txBody>
      </p:sp>
    </p:spTree>
    <p:extLst>
      <p:ext uri="{BB962C8B-B14F-4D97-AF65-F5344CB8AC3E}">
        <p14:creationId xmlns:p14="http://schemas.microsoft.com/office/powerpoint/2010/main" val="1354065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ECBE2-A4C4-70B6-C758-B1BD9EEA99FE}"/>
              </a:ext>
            </a:extLst>
          </p:cNvPr>
          <p:cNvSpPr>
            <a:spLocks noGrp="1"/>
          </p:cNvSpPr>
          <p:nvPr>
            <p:ph type="title"/>
          </p:nvPr>
        </p:nvSpPr>
        <p:spPr>
          <a:xfrm>
            <a:off x="753451" y="249153"/>
            <a:ext cx="10515600" cy="1325563"/>
          </a:xfrm>
        </p:spPr>
        <p:txBody>
          <a:bodyPr/>
          <a:lstStyle/>
          <a:p>
            <a:r>
              <a:rPr lang="en-GB" dirty="0"/>
              <a:t>Questions?</a:t>
            </a:r>
          </a:p>
        </p:txBody>
      </p:sp>
      <p:sp>
        <p:nvSpPr>
          <p:cNvPr id="5" name="TextBox 4">
            <a:extLst>
              <a:ext uri="{FF2B5EF4-FFF2-40B4-BE49-F238E27FC236}">
                <a16:creationId xmlns:a16="http://schemas.microsoft.com/office/drawing/2014/main" id="{E44BC597-3E26-981B-2200-703284AC4B74}"/>
              </a:ext>
            </a:extLst>
          </p:cNvPr>
          <p:cNvSpPr txBox="1"/>
          <p:nvPr/>
        </p:nvSpPr>
        <p:spPr>
          <a:xfrm>
            <a:off x="922949" y="4398395"/>
            <a:ext cx="6095256" cy="646331"/>
          </a:xfrm>
          <a:prstGeom prst="rect">
            <a:avLst/>
          </a:prstGeom>
          <a:noFill/>
        </p:spPr>
        <p:txBody>
          <a:bodyPr wrap="square">
            <a:spAutoFit/>
          </a:bodyPr>
          <a:lstStyle/>
          <a:p>
            <a:r>
              <a:rPr lang="en-GB" dirty="0"/>
              <a:t>Toroidal propeller designs – Thingyverse </a:t>
            </a:r>
          </a:p>
          <a:p>
            <a:r>
              <a:rPr lang="en-GB" dirty="0"/>
              <a:t>Owl image – Wang and Liu</a:t>
            </a:r>
          </a:p>
        </p:txBody>
      </p:sp>
      <p:sp>
        <p:nvSpPr>
          <p:cNvPr id="6" name="Title 1">
            <a:extLst>
              <a:ext uri="{FF2B5EF4-FFF2-40B4-BE49-F238E27FC236}">
                <a16:creationId xmlns:a16="http://schemas.microsoft.com/office/drawing/2014/main" id="{B2EDC919-4D0D-9CAF-829E-6BC52F9E82E6}"/>
              </a:ext>
            </a:extLst>
          </p:cNvPr>
          <p:cNvSpPr txBox="1">
            <a:spLocks/>
          </p:cNvSpPr>
          <p:nvPr/>
        </p:nvSpPr>
        <p:spPr>
          <a:xfrm>
            <a:off x="753451" y="307283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References</a:t>
            </a:r>
          </a:p>
        </p:txBody>
      </p:sp>
    </p:spTree>
    <p:extLst>
      <p:ext uri="{BB962C8B-B14F-4D97-AF65-F5344CB8AC3E}">
        <p14:creationId xmlns:p14="http://schemas.microsoft.com/office/powerpoint/2010/main" val="14147270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3207</TotalTime>
  <Words>346</Words>
  <Application>Microsoft Office PowerPoint</Application>
  <PresentationFormat>Widescreen</PresentationFormat>
  <Paragraphs>55</Paragraphs>
  <Slides>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Cambria Math</vt:lpstr>
      <vt:lpstr>Office Theme</vt:lpstr>
      <vt:lpstr>Acoustic Signatures of Quadcopter Propellers</vt:lpstr>
      <vt:lpstr>Context and application</vt:lpstr>
      <vt:lpstr>Objectives</vt:lpstr>
      <vt:lpstr>Propeller geometry</vt:lpstr>
      <vt:lpstr>Hypothesis</vt:lpstr>
      <vt:lpstr>Aerodynamic performance</vt:lpstr>
      <vt:lpstr>Aerodynamic measurements</vt:lpstr>
      <vt:lpstr>Acoustic performance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Louis Pender</dc:creator>
  <cp:lastModifiedBy>Louis Pender</cp:lastModifiedBy>
  <cp:revision>24</cp:revision>
  <dcterms:created xsi:type="dcterms:W3CDTF">2024-11-22T13:57:46Z</dcterms:created>
  <dcterms:modified xsi:type="dcterms:W3CDTF">2024-11-25T12:30:49Z</dcterms:modified>
</cp:coreProperties>
</file>