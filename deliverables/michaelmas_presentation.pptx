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71" r:id="rId4"/>
    <p:sldId id="265" r:id="rId5"/>
    <p:sldId id="270" r:id="rId6"/>
    <p:sldId id="258" r:id="rId7"/>
    <p:sldId id="261" r:id="rId8"/>
    <p:sldId id="263" r:id="rId9"/>
    <p:sldId id="264" r:id="rId10"/>
    <p:sldId id="266" r:id="rId11"/>
    <p:sldId id="268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82134" autoAdjust="0"/>
  </p:normalViewPr>
  <p:slideViewPr>
    <p:cSldViewPr snapToGrid="0">
      <p:cViewPr varScale="1">
        <p:scale>
          <a:sx n="92" d="100"/>
          <a:sy n="92" d="100"/>
        </p:scale>
        <p:origin x="1314" y="66"/>
      </p:cViewPr>
      <p:guideLst/>
    </p:cSldViewPr>
  </p:slideViewPr>
  <p:notesTextViewPr>
    <p:cViewPr>
      <p:scale>
        <a:sx n="98" d="100"/>
        <a:sy n="98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B89D3-1E85-48CA-BFDB-0FE03B3C9B40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AB5C0-8D71-4250-8AD2-76EE2272295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55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703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noise made by drones acts as a barrier to their wider adoption for drone-based services such as logistics, surveying and mapping.</a:t>
            </a:r>
          </a:p>
          <a:p>
            <a:r>
              <a:rPr lang="en-GB" dirty="0"/>
              <a:t>The propellers of drones make up a small fraction of their cost, but efficient designs are important for productivity such as payload and flight time.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Future legislation will likely require small and reliable drones with many propellers for redundancy.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234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85965-03A0-3412-9CD0-8FE780753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6E0E5-229F-CCAB-1A3E-1C4984C17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B81DF3-6DFC-9AA1-341D-1C675D6AD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objectives of this project are to design and build an experimental setup to measure aerodynamic and aeroacoustics performance.</a:t>
            </a:r>
          </a:p>
          <a:p>
            <a:r>
              <a:rPr lang="en-GB" dirty="0"/>
              <a:t>This will be done for varying propeller geometry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763B6-BEAA-719C-B63B-028D5D72E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279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 course this isn’t a new topic </a:t>
            </a:r>
          </a:p>
          <a:p>
            <a:r>
              <a:rPr lang="en-GB" dirty="0"/>
              <a:t>Previous research has covered changes to tip geometry which has reduced tonality from tip vortex blade interaction.</a:t>
            </a:r>
          </a:p>
          <a:p>
            <a:r>
              <a:rPr lang="en-GB" dirty="0"/>
              <a:t>Blade sweep was found to have little affect</a:t>
            </a:r>
          </a:p>
          <a:p>
            <a:r>
              <a:rPr lang="en-GB" dirty="0"/>
              <a:t>Variable blade spacing and trailing edge serrations reduced the broadband noise by destructive acoustic interference and mixing</a:t>
            </a:r>
          </a:p>
          <a:p>
            <a:r>
              <a:rPr lang="en-GB" dirty="0"/>
              <a:t>It's also worth noting that these trailing edge serrations at low Reynolds numbers were inspired by owl wings.</a:t>
            </a:r>
          </a:p>
          <a:p>
            <a:endParaRPr lang="en-GB" dirty="0"/>
          </a:p>
          <a:p>
            <a:r>
              <a:rPr lang="en-GB" dirty="0"/>
              <a:t>This needs to be naturally and indirectly introduced by exploring the problem of aero acoustic performance</a:t>
            </a:r>
          </a:p>
          <a:p>
            <a:r>
              <a:rPr lang="en-GB" dirty="0"/>
              <a:t>Treat as large design space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789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objectives of this project are to design and build an experimental setup to measure aerodynamic and aeroacoustics performance.</a:t>
            </a:r>
          </a:p>
          <a:p>
            <a:r>
              <a:rPr lang="en-GB" dirty="0"/>
              <a:t>This will be done for varying propeller geometry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649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the experimental setup it's important to consider the parameters needed to define a given propellers performance. Dimensionless thrust and torque coefficients can be found from blade tip speed and area. 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Add coefficient of merit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7822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measure torque and thrust the deflection of load cells will be measured by strain gauges. This was chosen over null force balancing methods for its simple setup and sufficient accuracy.</a:t>
            </a:r>
          </a:p>
          <a:p>
            <a:r>
              <a:rPr lang="en-GB" dirty="0"/>
              <a:t>Full bridge load cell refers to 4 strain gauges in the Wheatstone bridge which can compensate for off axis forces.</a:t>
            </a:r>
          </a:p>
          <a:p>
            <a:endParaRPr lang="en-GB" dirty="0"/>
          </a:p>
          <a:p>
            <a:r>
              <a:rPr lang="en-GB" dirty="0"/>
              <a:t>Current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805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6897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0860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Possible Qs</a:t>
            </a:r>
          </a:p>
          <a:p>
            <a:r>
              <a:rPr lang="en-GB" dirty="0"/>
              <a:t>Reynolds Number</a:t>
            </a:r>
          </a:p>
          <a:p>
            <a:r>
              <a:rPr lang="en-GB" dirty="0"/>
              <a:t>Propulsive efficiency vs figure of merit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9AB5C0-8D71-4250-8AD2-76EE2272295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7813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A269-5AE8-9590-DCC7-9890676E7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F157E-C3BE-9784-7A11-4C5C111EE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A0064-D3D7-4671-F3AA-71BDDD4FD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74A90-A543-A4A5-78E1-8A4D6F45E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6A39B-CB52-CB65-8F37-E519420F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79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44B0-F44B-BC44-4621-DFBFBFF78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48BA3-59E1-0ACA-78A4-BFA5170D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18B79-5DA7-9B4D-62C9-A9B9DE6D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41498-BD25-EB5A-B7E0-9F69B5AAC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8CBBF-7C1F-DB0F-7C3E-B03D2B430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07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75303-F02B-4BA7-6F80-777EF3F4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D2542-4634-DF42-0F22-CA0C37E32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193E9-DE39-13B2-68BC-41019A845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2CBDB-D82F-EE87-3053-6FEF28745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A3069-2793-956D-1E92-FAB2BF9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0360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33B91-0CF1-BF89-8CC6-EB71EA645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C8786-6211-BC53-5D92-DFFCC78A1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86FDA3-409F-F1D2-5E28-263519724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CA2EE4-B849-D250-1145-08E7190D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C9BCD2-4FE6-A729-9DEB-E55CFF2A3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332C2-3ED4-E1D6-0530-6487B7A8D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F3E5F-1FB6-13C6-C7F4-EB9B245F1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84CB1-4079-AC7D-32DF-F82585545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231250-0482-53E1-744C-1D983130F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85D79-C408-76CC-D58D-D65BB8D478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ECE2C5-3C19-4162-8BA5-680E9C28A0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A8DB51-E808-B626-634E-51319CC52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492F4E-DF88-23CE-539C-54D951290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8D2CC-F632-2C97-E571-C4BEEE7B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39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E0DA-48C7-A9ED-CC80-F9A288DD1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A575E9-483B-090D-E9F0-9498A256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01D19-6781-33F6-A2AC-70DDFE9D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61EACB-7B57-ACE9-27FD-C06AC1AE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05B12-C1D3-CD71-4F2B-084E242DB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1B6155-D26D-4589-7DF3-95BE79D0B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D13DD-7AF5-F736-7739-BD8D535D0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9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0A568-7B9C-0EFA-0BF7-28DE3FE1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0578A-0B1D-2D6B-8ED3-2169ABA4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1CE73-4A1E-3417-053A-F5F70F583A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49FFC-F144-09D0-6B06-F66E86EE8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94071-F8B3-4475-E773-B4C0477A5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435CB-6FCD-F35E-5F06-3FF54D4A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49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1A9C-1329-A56F-2537-D8E5DFA0A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CCF3AA-3445-6E97-290F-6A3C26AE0D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4BC6D-12B7-9C4B-BEEF-E9EBFE9E75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1E670-C2F8-AB48-68EF-2B320141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FD70B-3326-297B-352C-E9D50E28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2D117-A90C-3474-0A9A-3202742C7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004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962BD-3C37-D003-3EE2-054EC79D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F2F28-F84B-8816-4FEA-71A6D32CF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5994-D9F3-ED6C-3FA9-4679CB1D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5D7EA-4ED0-2188-805B-FB080038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83693-FFA7-02E2-BC83-E50ACB8A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47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557076-BF26-873C-2810-4A6BA2A71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800107-5A74-BF00-0208-E9C0CDED5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BDE91-8602-55EC-C697-946321BB8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91B15-27C7-4233-5901-4F00FDA8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F06BA-6E22-97E4-FC84-1FC937810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44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48AE4-5F0C-24CC-7437-58C986BB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A3C7B-08CD-8FD7-8217-8DF7285CD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22863-BB98-E95D-A5F9-4B93CC21DB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C3C57F-C92A-483E-A8E5-2F94B59C9323}" type="datetimeFigureOut">
              <a:rPr lang="en-GB" smtClean="0"/>
              <a:t>26/11/2024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CFB1F-00DC-6F7F-5F3E-48BC369C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F51B6-23BB-BDAD-E07F-8E9DAF178A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C39E6-CAD2-43B2-991D-2DE2C2645A9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2142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89A5C-8EAF-D622-9AD8-85747CADC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2192482"/>
            <a:ext cx="6714699" cy="1805191"/>
          </a:xfrm>
        </p:spPr>
        <p:txBody>
          <a:bodyPr>
            <a:normAutofit/>
          </a:bodyPr>
          <a:lstStyle/>
          <a:p>
            <a:pPr algn="l"/>
            <a:r>
              <a:rPr lang="en-GB" sz="4800" dirty="0">
                <a:solidFill>
                  <a:srgbClr val="FFFFFF"/>
                </a:solidFill>
              </a:rPr>
              <a:t>Acoustic Signatures of Quadcopter Propellers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757E4D-9D2A-E465-6BD0-4F479ABA0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en-GB" dirty="0">
                <a:solidFill>
                  <a:srgbClr val="FFFFFF"/>
                </a:solidFill>
              </a:rPr>
              <a:t>Louis Pender</a:t>
            </a:r>
          </a:p>
          <a:p>
            <a:pPr algn="l"/>
            <a:r>
              <a:rPr lang="en-GB" dirty="0">
                <a:solidFill>
                  <a:srgbClr val="FFFFFF"/>
                </a:solidFill>
              </a:rPr>
              <a:t>LWP26</a:t>
            </a:r>
          </a:p>
        </p:txBody>
      </p:sp>
    </p:spTree>
    <p:extLst>
      <p:ext uri="{BB962C8B-B14F-4D97-AF65-F5344CB8AC3E}">
        <p14:creationId xmlns:p14="http://schemas.microsoft.com/office/powerpoint/2010/main" val="289182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8B66DD-BA91-54D3-4B60-73B1C0960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9679" y="439994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Context and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A76D-A7FD-8847-FF28-6A5BE4C3D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9679" y="1768201"/>
            <a:ext cx="9599050" cy="479526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Noise pollution acts as a barrier for adoption of drone-based services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Propellers are the primary source of noise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Aerodynamic and aero-acoustic performance are closely related</a:t>
            </a:r>
          </a:p>
        </p:txBody>
      </p:sp>
    </p:spTree>
    <p:extLst>
      <p:ext uri="{BB962C8B-B14F-4D97-AF65-F5344CB8AC3E}">
        <p14:creationId xmlns:p14="http://schemas.microsoft.com/office/powerpoint/2010/main" val="302963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D59634-B6D2-CA0D-3E91-0CC9F230D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2C86B-310B-26E1-B5F6-92321096F3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496510-076E-6529-3C69-A5D983CF81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B27B4C-4A61-6EE3-38BA-70D675419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A801EC-4108-CBBB-9056-375B4702A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D6A083-C23A-C199-CBA4-DE8C0F06F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B2840D-6AEF-7E31-8A46-F7D203459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Sources of propeller sound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48A5A-3BCD-676E-62FE-E0615AA4A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804" y="2047009"/>
            <a:ext cx="10398046" cy="481099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dirty="0"/>
              <a:t>Discrete frequency tonal noise</a:t>
            </a:r>
          </a:p>
          <a:p>
            <a:r>
              <a:rPr lang="en-GB" dirty="0"/>
              <a:t>Periodic pressure fluctuations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Broadband</a:t>
            </a:r>
          </a:p>
          <a:p>
            <a:r>
              <a:rPr lang="en-GB" dirty="0"/>
              <a:t>Formation and shedding of vortices</a:t>
            </a:r>
          </a:p>
          <a:p>
            <a:r>
              <a:rPr lang="en-GB" dirty="0"/>
              <a:t>Trailing edge turbulent interaction</a:t>
            </a:r>
          </a:p>
          <a:p>
            <a:r>
              <a:rPr lang="en-GB" dirty="0"/>
              <a:t>Flow separation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40CA7AA-5659-48B1-C827-BCB210B1C7E8}"/>
              </a:ext>
            </a:extLst>
          </p:cNvPr>
          <p:cNvSpPr txBox="1">
            <a:spLocks/>
          </p:cNvSpPr>
          <p:nvPr/>
        </p:nvSpPr>
        <p:spPr>
          <a:xfrm>
            <a:off x="6735992" y="1652675"/>
            <a:ext cx="4860265" cy="30015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GB" sz="2800" dirty="0"/>
              <a:t>Geometry</a:t>
            </a:r>
          </a:p>
          <a:p>
            <a:pPr lvl="1"/>
            <a:r>
              <a:rPr lang="en-GB" sz="2800" dirty="0"/>
              <a:t>Blade sweep</a:t>
            </a:r>
          </a:p>
          <a:p>
            <a:pPr lvl="1"/>
            <a:r>
              <a:rPr lang="en-GB" sz="2800" dirty="0"/>
              <a:t>Tip geometry</a:t>
            </a:r>
          </a:p>
          <a:p>
            <a:pPr lvl="1"/>
            <a:r>
              <a:rPr lang="en-GB" sz="2800" dirty="0"/>
              <a:t>Varying blade spacing</a:t>
            </a:r>
          </a:p>
          <a:p>
            <a:pPr lvl="1"/>
            <a:r>
              <a:rPr lang="en-GB" sz="2800" dirty="0"/>
              <a:t>Trailing edge serrations</a:t>
            </a:r>
            <a:endParaRPr lang="en-GB" dirty="0"/>
          </a:p>
          <a:p>
            <a:endParaRPr lang="en-GB" sz="20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16BA01-436A-5812-342F-E42141AB22F6}"/>
              </a:ext>
            </a:extLst>
          </p:cNvPr>
          <p:cNvGrpSpPr/>
          <p:nvPr/>
        </p:nvGrpSpPr>
        <p:grpSpPr>
          <a:xfrm>
            <a:off x="6548174" y="4259862"/>
            <a:ext cx="5457290" cy="2487338"/>
            <a:chOff x="459350" y="4615094"/>
            <a:chExt cx="4445431" cy="194836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6EB6A47-5DB1-4897-6746-A076ABF9FF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9009"/>
            <a:stretch/>
          </p:blipFill>
          <p:spPr>
            <a:xfrm>
              <a:off x="459350" y="4615094"/>
              <a:ext cx="4445431" cy="1948368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09827F-FB05-2B25-3EE1-3339B337B035}"/>
                </a:ext>
              </a:extLst>
            </p:cNvPr>
            <p:cNvSpPr txBox="1"/>
            <p:nvPr/>
          </p:nvSpPr>
          <p:spPr>
            <a:xfrm>
              <a:off x="528178" y="5419923"/>
              <a:ext cx="31047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C. F. Wisniewski et al.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8568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5025B-3D80-0CC4-2006-923A1BC2A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D4F78A-F37B-B1DE-69AB-C270AC8F1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5745CF-9619-AF40-1167-3856C048C0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E8B599-FC68-4E63-838A-8742AE80E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F0590A-59B4-6573-5680-74BEE528B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AD4C7-3E3E-AA35-1F16-8BCB03653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DF2F80-4B94-3290-D89A-4F89C94F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05" y="285873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Previous aero acoustic research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FBB8285-6432-1BCC-8C52-B726981C3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308" y="2674954"/>
            <a:ext cx="5026054" cy="403339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200314-9225-28E0-2806-649E768B771D}"/>
              </a:ext>
            </a:extLst>
          </p:cNvPr>
          <p:cNvSpPr txBox="1"/>
          <p:nvPr/>
        </p:nvSpPr>
        <p:spPr>
          <a:xfrm>
            <a:off x="7959365" y="3673718"/>
            <a:ext cx="2603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A. D. Wiedemann et al.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DDEF540-2758-FFDA-4A9A-934D0BF28A52}"/>
              </a:ext>
            </a:extLst>
          </p:cNvPr>
          <p:cNvGrpSpPr/>
          <p:nvPr/>
        </p:nvGrpSpPr>
        <p:grpSpPr>
          <a:xfrm>
            <a:off x="392205" y="3487974"/>
            <a:ext cx="11197878" cy="3001521"/>
            <a:chOff x="392205" y="3487974"/>
            <a:chExt cx="11197878" cy="300152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EA873DD-E14A-D8F1-79ED-D3A98497AA28}"/>
                </a:ext>
              </a:extLst>
            </p:cNvPr>
            <p:cNvGrpSpPr/>
            <p:nvPr/>
          </p:nvGrpSpPr>
          <p:grpSpPr>
            <a:xfrm>
              <a:off x="392205" y="3487974"/>
              <a:ext cx="11197878" cy="3001521"/>
              <a:chOff x="420859" y="3570606"/>
              <a:chExt cx="11197878" cy="3001521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CD423FC-03F4-D5A1-2483-AE0A82548D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0859" y="4590779"/>
                <a:ext cx="5861841" cy="1827277"/>
              </a:xfrm>
              <a:prstGeom prst="rect">
                <a:avLst/>
              </a:prstGeom>
            </p:spPr>
          </p:pic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0C9D165-BE70-4E74-4603-F7C49AD44FC9}"/>
                  </a:ext>
                </a:extLst>
              </p:cNvPr>
              <p:cNvGrpSpPr/>
              <p:nvPr/>
            </p:nvGrpSpPr>
            <p:grpSpPr>
              <a:xfrm>
                <a:off x="6282700" y="3570606"/>
                <a:ext cx="5336037" cy="3001521"/>
                <a:chOff x="6282700" y="3570606"/>
                <a:chExt cx="5336037" cy="3001521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8E28C63F-94ED-AE22-8F66-C521AF20E8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82700" y="3570606"/>
                  <a:ext cx="5336037" cy="3001521"/>
                </a:xfrm>
                <a:prstGeom prst="rect">
                  <a:avLst/>
                </a:prstGeom>
              </p:spPr>
            </p:pic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6258E11-FAAE-C175-D482-1D2F77033364}"/>
                    </a:ext>
                  </a:extLst>
                </p:cNvPr>
                <p:cNvSpPr txBox="1"/>
                <p:nvPr/>
              </p:nvSpPr>
              <p:spPr>
                <a:xfrm>
                  <a:off x="8043808" y="3816655"/>
                  <a:ext cx="213585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dirty="0"/>
                    <a:t>L. Wang et al.</a:t>
                  </a:r>
                </a:p>
              </p:txBody>
            </p:sp>
          </p:grp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21B5BFC-0666-1747-43A2-6F76CB712D48}"/>
                </a:ext>
              </a:extLst>
            </p:cNvPr>
            <p:cNvSpPr txBox="1"/>
            <p:nvPr/>
          </p:nvSpPr>
          <p:spPr>
            <a:xfrm>
              <a:off x="2403245" y="5703934"/>
              <a:ext cx="16544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B. Zang et al.</a:t>
              </a:r>
            </a:p>
          </p:txBody>
        </p:sp>
      </p:grp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F47C10FF-806A-41E4-FB8E-27340CEB6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441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73EFC-50AC-AC9B-D8C3-83D34FA27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8203-AC4A-1D11-486D-ED27D84B5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94F24-311F-CF99-1DA6-6FFFBD37D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861257B-D118-BE46-6933-3A1C3AE8C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518" y="250103"/>
            <a:ext cx="8320216" cy="63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23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6D6236-4AA6-6861-46AD-140A40AA4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E358F-D7FF-016F-569C-6BD94603C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247" y="2358855"/>
            <a:ext cx="10398046" cy="3724339"/>
          </a:xfrm>
        </p:spPr>
        <p:txBody>
          <a:bodyPr anchor="ctr">
            <a:normAutofit/>
          </a:bodyPr>
          <a:lstStyle/>
          <a:p>
            <a:r>
              <a:rPr lang="en-GB" dirty="0"/>
              <a:t>Design and build an experimental setups to measure</a:t>
            </a:r>
            <a:r>
              <a:rPr lang="en-GB" b="1" dirty="0"/>
              <a:t> aerodynamic performance</a:t>
            </a:r>
            <a:r>
              <a:rPr lang="en-GB" dirty="0"/>
              <a:t> and </a:t>
            </a:r>
            <a:r>
              <a:rPr lang="en-GB" b="1" dirty="0"/>
              <a:t>acoustic signatures </a:t>
            </a:r>
            <a:r>
              <a:rPr lang="en-GB" dirty="0"/>
              <a:t>of various propeller designs</a:t>
            </a:r>
          </a:p>
          <a:p>
            <a:endParaRPr lang="en-GB" dirty="0"/>
          </a:p>
          <a:p>
            <a:r>
              <a:rPr lang="en-GB" dirty="0"/>
              <a:t>Attribute </a:t>
            </a:r>
            <a:r>
              <a:rPr lang="en-US" dirty="0"/>
              <a:t>changes in the acoustic spectrum to flow phenomena caused by propeller geometry modifications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Analyse and compare psychoacoustic performance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3545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EF8942-9360-F860-55C9-3090EA785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Aerodynamic performance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</p:spPr>
            <p:txBody>
              <a:bodyPr anchor="ctr">
                <a:normAutofit/>
              </a:bodyPr>
              <a:lstStyle/>
              <a:p>
                <a:r>
                  <a:rPr lang="en-GB" dirty="0"/>
                  <a:t>Aerodynamic performance quantities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en-GB" b="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-GB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en-GB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𝑟𝐴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Power is obtained from </a:t>
                </a:r>
                <a14:m>
                  <m:oMath xmlns:m="http://schemas.openxmlformats.org/officeDocument/2006/math">
                    <m:r>
                      <a:rPr lang="en-GB" b="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⋅2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GB" b="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dirty="0"/>
                  <a:t> 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Require values for torque, thrust and angular speed.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CDFD70-B897-4A43-D1BE-A1240A25FB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599" y="2019300"/>
                <a:ext cx="9724031" cy="3982255"/>
              </a:xfrm>
              <a:blipFill>
                <a:blip r:embed="rId3"/>
                <a:stretch>
                  <a:fillRect l="-1254" t="-612" b="-21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BE3A3-63F0-6B49-F498-15D8A8897B14}"/>
                  </a:ext>
                </a:extLst>
              </p:cNvPr>
              <p:cNvSpPr txBox="1"/>
              <p:nvPr/>
            </p:nvSpPr>
            <p:spPr>
              <a:xfrm>
                <a:off x="3077438" y="2854355"/>
                <a:ext cx="6037119" cy="11492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𝐹𝑀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  <m:sup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2/3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BE3A3-63F0-6B49-F498-15D8A8897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7438" y="2854355"/>
                <a:ext cx="6037119" cy="114928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457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D9AC5-0EC4-38D7-8E7D-41944460A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570" y="231946"/>
            <a:ext cx="10515600" cy="1325563"/>
          </a:xfrm>
        </p:spPr>
        <p:txBody>
          <a:bodyPr/>
          <a:lstStyle/>
          <a:p>
            <a:r>
              <a:rPr lang="en-GB" dirty="0"/>
              <a:t>Aerodynamic measurements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375A3-69B7-413F-69EC-A8BA51B8A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45" y="1756051"/>
            <a:ext cx="5304181" cy="46298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Torque and thrust measured by strain gauge load cells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Full bridge cantilever models selected for sensitivity and resistance to off-axis forces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Orientation selected for accuracy, and ease of calibration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6DFC9-3FCE-4B2C-21D4-5096FA1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4" y="1236485"/>
            <a:ext cx="5199557" cy="536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031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53C29-8BE0-FA3F-BADF-EB4F5C5E7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Acoustic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C9FEE-F51C-BBC5-5750-D5F85AFD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74" y="1830762"/>
            <a:ext cx="6333162" cy="436778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BACF53C-DB37-050E-6D7F-B0341BBAECF9}"/>
              </a:ext>
            </a:extLst>
          </p:cNvPr>
          <p:cNvSpPr txBox="1">
            <a:spLocks/>
          </p:cNvSpPr>
          <p:nvPr/>
        </p:nvSpPr>
        <p:spPr>
          <a:xfrm>
            <a:off x="6446178" y="1736582"/>
            <a:ext cx="5857126" cy="43677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Zwicker’s psychoacoustic model</a:t>
            </a:r>
          </a:p>
          <a:p>
            <a:r>
              <a:rPr lang="en-US" dirty="0"/>
              <a:t>Loudness</a:t>
            </a:r>
          </a:p>
          <a:p>
            <a:r>
              <a:rPr lang="en-US" dirty="0"/>
              <a:t>fluctuation strength</a:t>
            </a:r>
          </a:p>
          <a:p>
            <a:r>
              <a:rPr lang="en-US" dirty="0"/>
              <a:t>Roughness</a:t>
            </a:r>
          </a:p>
          <a:p>
            <a:r>
              <a:rPr lang="en-US" dirty="0"/>
              <a:t>sharpness.</a:t>
            </a:r>
          </a:p>
        </p:txBody>
      </p:sp>
    </p:spTree>
    <p:extLst>
      <p:ext uri="{BB962C8B-B14F-4D97-AF65-F5344CB8AC3E}">
        <p14:creationId xmlns:p14="http://schemas.microsoft.com/office/powerpoint/2010/main" val="1354065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22670F-0D71-AD7E-B183-43040CD27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978" y="447674"/>
            <a:ext cx="6820194" cy="61753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AA5FBC-085C-6F67-FFE6-B768D4CC0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55575"/>
            <a:ext cx="10515600" cy="1325563"/>
          </a:xfrm>
        </p:spPr>
        <p:txBody>
          <a:bodyPr/>
          <a:lstStyle/>
          <a:p>
            <a:r>
              <a:rPr lang="en-GB" dirty="0"/>
              <a:t>Acoustic measurements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E54BC4-6E6B-11A7-1B30-9A93B0ACC3A4}"/>
                  </a:ext>
                </a:extLst>
              </p:cNvPr>
              <p:cNvSpPr txBox="1"/>
              <p:nvPr/>
            </p:nvSpPr>
            <p:spPr>
              <a:xfrm rot="2674917">
                <a:off x="7101426" y="3867428"/>
                <a:ext cx="6756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2.5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FE54BC4-6E6B-11A7-1B30-9A93B0ACC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74917">
                <a:off x="7101426" y="3867428"/>
                <a:ext cx="67568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994AB0B-01E0-C9B1-FAB4-4B6511A40250}"/>
              </a:ext>
            </a:extLst>
          </p:cNvPr>
          <p:cNvSpPr txBox="1"/>
          <p:nvPr/>
        </p:nvSpPr>
        <p:spPr>
          <a:xfrm>
            <a:off x="438150" y="1574655"/>
            <a:ext cx="50274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Ideally, the propeller acoustics must be isolated from the motor and motor driver.</a:t>
            </a:r>
          </a:p>
          <a:p>
            <a:endParaRPr lang="en-GB" sz="2400" dirty="0"/>
          </a:p>
          <a:p>
            <a:r>
              <a:rPr lang="en-GB" sz="2400" dirty="0"/>
              <a:t>However, this is not possible and so the acoustics of no propeller will be measured at the same speed</a:t>
            </a:r>
          </a:p>
        </p:txBody>
      </p:sp>
    </p:spTree>
    <p:extLst>
      <p:ext uri="{BB962C8B-B14F-4D97-AF65-F5344CB8AC3E}">
        <p14:creationId xmlns:p14="http://schemas.microsoft.com/office/powerpoint/2010/main" val="3386808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4C99E-1C51-E619-7C98-62CACEBDF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9E6C3-E2AE-1A2C-4E04-2B8C7295EE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Variable blade span could promote mixing of wing tip vortices, reducing  tonal sound</a:t>
            </a:r>
          </a:p>
          <a:p>
            <a:endParaRPr lang="en-GB" dirty="0"/>
          </a:p>
          <a:p>
            <a:r>
              <a:rPr lang="en-GB" dirty="0"/>
              <a:t>Serrations on trailing edge of front loop or closely spaced propellers will reduce blade wake interaction and hence the broadband noise</a:t>
            </a:r>
          </a:p>
          <a:p>
            <a:endParaRPr lang="en-GB" dirty="0"/>
          </a:p>
          <a:p>
            <a:r>
              <a:rPr lang="en-GB" dirty="0"/>
              <a:t>High loading at the tip will produce stronger </a:t>
            </a:r>
            <a:r>
              <a:rPr lang="en-GB" dirty="0" err="1"/>
              <a:t>vorticies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145903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CBE2-A4C4-70B6-C758-B1BD9EEA9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451" y="249153"/>
            <a:ext cx="10515600" cy="1325563"/>
          </a:xfrm>
        </p:spPr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2EDC919-4D0D-9CAF-829E-6BC52F9E82E6}"/>
              </a:ext>
            </a:extLst>
          </p:cNvPr>
          <p:cNvSpPr txBox="1">
            <a:spLocks/>
          </p:cNvSpPr>
          <p:nvPr/>
        </p:nvSpPr>
        <p:spPr>
          <a:xfrm>
            <a:off x="753451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414727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4225</TotalTime>
  <Words>628</Words>
  <Application>Microsoft Office PowerPoint</Application>
  <PresentationFormat>Widescreen</PresentationFormat>
  <Paragraphs>103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Office Theme</vt:lpstr>
      <vt:lpstr>Acoustic Signatures of Quadcopter Propellers</vt:lpstr>
      <vt:lpstr>Context and application</vt:lpstr>
      <vt:lpstr>Sources of propeller sound</vt:lpstr>
      <vt:lpstr>Previous aero acoustic research</vt:lpstr>
      <vt:lpstr>PowerPoint Presentation</vt:lpstr>
      <vt:lpstr>Objectives</vt:lpstr>
      <vt:lpstr>Aerodynamic performance</vt:lpstr>
      <vt:lpstr>Aerodynamic measurements</vt:lpstr>
      <vt:lpstr>Acoustic performance</vt:lpstr>
      <vt:lpstr>Acoustic measurements</vt:lpstr>
      <vt:lpstr>Hypothesis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 Pender</dc:creator>
  <cp:lastModifiedBy>Louis Pender</cp:lastModifiedBy>
  <cp:revision>59</cp:revision>
  <dcterms:created xsi:type="dcterms:W3CDTF">2024-11-22T13:57:46Z</dcterms:created>
  <dcterms:modified xsi:type="dcterms:W3CDTF">2024-11-26T19:18:47Z</dcterms:modified>
</cp:coreProperties>
</file>