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71" r:id="rId4"/>
    <p:sldId id="270" r:id="rId5"/>
    <p:sldId id="265" r:id="rId6"/>
    <p:sldId id="268" r:id="rId7"/>
    <p:sldId id="258" r:id="rId8"/>
    <p:sldId id="275" r:id="rId9"/>
    <p:sldId id="261" r:id="rId10"/>
    <p:sldId id="273" r:id="rId11"/>
    <p:sldId id="266" r:id="rId12"/>
    <p:sldId id="272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71049" autoAdjust="0"/>
  </p:normalViewPr>
  <p:slideViewPr>
    <p:cSldViewPr snapToGrid="0">
      <p:cViewPr>
        <p:scale>
          <a:sx n="98" d="100"/>
          <a:sy n="98" d="100"/>
        </p:scale>
        <p:origin x="1077" y="-444"/>
      </p:cViewPr>
      <p:guideLst/>
    </p:cSldViewPr>
  </p:slideViewPr>
  <p:notesTextViewPr>
    <p:cViewPr>
      <p:scale>
        <a:sx n="116" d="100"/>
        <a:sy n="11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</a:t>
            </a:r>
          </a:p>
          <a:p>
            <a:r>
              <a:rPr lang="en-GB" dirty="0"/>
              <a:t>logistics, surveying and mapping.</a:t>
            </a:r>
          </a:p>
          <a:p>
            <a:r>
              <a:rPr lang="en-GB" dirty="0"/>
              <a:t>Propellers are a small part of a drone’s cost to produce,</a:t>
            </a:r>
          </a:p>
          <a:p>
            <a:r>
              <a:rPr lang="en-GB" dirty="0"/>
              <a:t>but efficient designs can increase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Propellers are also the main source of noise from drones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5965-03A0-3412-9CD0-8FE780753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6E0E5-229F-CCAB-1A3E-1C4984C17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81DF3-6DFC-9AA1-341D-1C675D6AD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sound can be split into two:</a:t>
            </a:r>
          </a:p>
          <a:p>
            <a:r>
              <a:rPr lang="en-GB" dirty="0"/>
              <a:t>Broadband distributed over a wide range of frequencies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Tonal at discrete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r>
              <a:rPr lang="en-GB" dirty="0"/>
              <a:t>Broadband noise primarily consists of formation and shedding of vortices</a:t>
            </a:r>
          </a:p>
          <a:p>
            <a:r>
              <a:rPr lang="en-GB" dirty="0"/>
              <a:t>Trailing edge turbulent interaction and flow separation</a:t>
            </a:r>
          </a:p>
          <a:p>
            <a:endParaRPr lang="en-GB" dirty="0"/>
          </a:p>
          <a:p>
            <a:r>
              <a:rPr lang="en-GB" dirty="0"/>
              <a:t>Tonal noise primarily consists of </a:t>
            </a:r>
          </a:p>
          <a:p>
            <a:r>
              <a:rPr lang="en-GB" dirty="0"/>
              <a:t>oscillating thickness displacement and pressure loading</a:t>
            </a:r>
          </a:p>
          <a:p>
            <a:r>
              <a:rPr lang="en-GB" dirty="0"/>
              <a:t>But can include BVI and blade wake interactions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763B6-BEAA-719C-B63B-028D5D72E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279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Y axis represents a psychoacoustic annoyance factor which is used to quantify subjective feelings caused by sound.</a:t>
            </a:r>
          </a:p>
          <a:p>
            <a:r>
              <a:rPr lang="en-GB" dirty="0"/>
              <a:t>The FM colour bar represents a static efficiency.</a:t>
            </a:r>
          </a:p>
          <a:p>
            <a:r>
              <a:rPr lang="en-GB" dirty="0"/>
              <a:t>This graph shows two important things</a:t>
            </a:r>
          </a:p>
          <a:p>
            <a:r>
              <a:rPr lang="en-GB" dirty="0"/>
              <a:t>Reducing thrust can significantly reduce acoustic annoyance</a:t>
            </a:r>
          </a:p>
          <a:p>
            <a:r>
              <a:rPr lang="en-GB" dirty="0"/>
              <a:t>For a fixed thrust a reduction in acoustic annoyance comes at a penalty of efficiency.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543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Noise reduction at a similar level of performance has been achieved.</a:t>
            </a:r>
          </a:p>
          <a:p>
            <a:r>
              <a:rPr lang="en-GB" dirty="0"/>
              <a:t>Tip geometry has reduced broadband and in some cases blade pass frequency tones.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6EA8-02F3-2F30-B4E2-D4E4B265B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B3C0D-6E41-BC99-934B-974A1E72A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A6453A-1E10-028D-52A8-A7854ED6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These are some examples of geometry modifications that are planned to be made.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 conventional propeller optimised for efficiency will be used as a base case.</a:t>
            </a:r>
          </a:p>
          <a:p>
            <a:r>
              <a:rPr lang="en-GB" dirty="0"/>
              <a:t>The left shows varying amounts of sweep for the toroidal propeller.</a:t>
            </a:r>
          </a:p>
          <a:p>
            <a:r>
              <a:rPr lang="en-GB" dirty="0"/>
              <a:t>Trailing edge serrations will also be added to toroidal and an uneven blade spacing design to test this hypothesis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69CF6-A17C-A34B-9ECC-F2704744D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0719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torque coefficients can be found from blade tip speed and area. </a:t>
            </a:r>
          </a:p>
          <a:p>
            <a:r>
              <a:rPr lang="en-GB" dirty="0"/>
              <a:t>These can then be combined into a static efficiency, or figure of merit which is the </a:t>
            </a:r>
            <a:r>
              <a:rPr lang="en-US" dirty="0"/>
              <a:t>ratio the ideal power required to hover to the actual power required.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99CB-4436-76D3-04AB-BB639B26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9C4BBA-B884-3910-3B44-1D1C122B1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E08912-9E6D-54B9-9BAB-A236BBCA1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3CA47-5490-2C86-CD87-EF5A62168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4650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preliminary setup to measure thrust against a speed control input was built.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97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Possible Qs</a:t>
            </a:r>
          </a:p>
          <a:p>
            <a:r>
              <a:rPr lang="en-GB" dirty="0"/>
              <a:t>Reynolds Number</a:t>
            </a:r>
          </a:p>
          <a:p>
            <a:r>
              <a:rPr lang="en-GB" dirty="0"/>
              <a:t>Propulsive efficiency vs figure of merit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813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2192482"/>
            <a:ext cx="6714699" cy="1805191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26985" y="5250991"/>
            <a:ext cx="7055893" cy="1078054"/>
          </a:xfrm>
        </p:spPr>
        <p:txBody>
          <a:bodyPr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Supervised by Dr Shreyas Mandre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679" y="43999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9679" y="1768201"/>
            <a:ext cx="9599050" cy="47952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Noise pollution acts as a barrier for adoption of drone-based services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are the primary source of noise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Must optimise aerodynamic and aero-acoustic performance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59634-B6D2-CA0D-3E91-0CC9F230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2C86B-310B-26E1-B5F6-92321096F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496510-076E-6529-3C69-A5D983CF8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B27B4C-4A61-6EE3-38BA-70D675419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A801EC-4108-CBBB-9056-375B4702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D6A083-C23A-C199-CBA4-DE8C0F06F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B2840D-6AEF-7E31-8A46-F7D203459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3" y="40241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Sources of propeller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8A5A-3BCD-676E-62FE-E0615AA4A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120" y="1794953"/>
            <a:ext cx="7789844" cy="457301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Broadband</a:t>
            </a:r>
          </a:p>
          <a:p>
            <a:r>
              <a:rPr lang="en-GB" sz="2400" b="1" dirty="0"/>
              <a:t>Formation and shedding of vortices</a:t>
            </a:r>
          </a:p>
          <a:p>
            <a:r>
              <a:rPr lang="en-GB" sz="2400" dirty="0"/>
              <a:t>Trailing edge turbulent interaction</a:t>
            </a:r>
          </a:p>
          <a:p>
            <a:r>
              <a:rPr lang="en-GB" sz="2400" dirty="0"/>
              <a:t>Flow separation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Discrete frequency tonal noise</a:t>
            </a:r>
          </a:p>
          <a:p>
            <a:r>
              <a:rPr lang="en-GB" sz="2400" dirty="0"/>
              <a:t>Thickness noise</a:t>
            </a:r>
          </a:p>
          <a:p>
            <a:r>
              <a:rPr lang="en-GB" sz="2400" b="1" dirty="0"/>
              <a:t>Loading noise</a:t>
            </a:r>
          </a:p>
          <a:p>
            <a:r>
              <a:rPr lang="en-GB" sz="2400" dirty="0"/>
              <a:t>Interaction and distortion effects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4E60C8-6F57-3C51-70F3-12293B831D55}"/>
              </a:ext>
            </a:extLst>
          </p:cNvPr>
          <p:cNvSpPr txBox="1"/>
          <p:nvPr/>
        </p:nvSpPr>
        <p:spPr>
          <a:xfrm>
            <a:off x="4202263" y="5059259"/>
            <a:ext cx="4017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Blade passing frequencies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FAFEF700-1428-A902-97E6-2FEE77631A6F}"/>
              </a:ext>
            </a:extLst>
          </p:cNvPr>
          <p:cNvSpPr/>
          <p:nvPr/>
        </p:nvSpPr>
        <p:spPr>
          <a:xfrm>
            <a:off x="3650519" y="4961984"/>
            <a:ext cx="551743" cy="6562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568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373EFC-50AC-AC9B-D8C3-83D34FA2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diagram of a number of stars&#10;&#10;Description automatically generated">
            <a:extLst>
              <a:ext uri="{FF2B5EF4-FFF2-40B4-BE49-F238E27FC236}">
                <a16:creationId xmlns:a16="http://schemas.microsoft.com/office/drawing/2014/main" id="{0861257B-D118-BE46-6933-3A1C3AE8C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397" y="508339"/>
            <a:ext cx="7635155" cy="5840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FC4491-0C2F-5B07-DD17-36B52939958D}"/>
              </a:ext>
            </a:extLst>
          </p:cNvPr>
          <p:cNvSpPr txBox="1"/>
          <p:nvPr/>
        </p:nvSpPr>
        <p:spPr>
          <a:xfrm>
            <a:off x="536932" y="1715845"/>
            <a:ext cx="28400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PA quantifies:</a:t>
            </a: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800" dirty="0">
                <a:solidFill>
                  <a:schemeClr val="bg1"/>
                </a:solidFill>
              </a:rPr>
              <a:t>Psychoacoustic annoyance</a:t>
            </a:r>
          </a:p>
        </p:txBody>
      </p:sp>
    </p:spTree>
    <p:extLst>
      <p:ext uri="{BB962C8B-B14F-4D97-AF65-F5344CB8AC3E}">
        <p14:creationId xmlns:p14="http://schemas.microsoft.com/office/powerpoint/2010/main" val="2036023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887" y="302965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Noise reduction geometry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561" y="1867577"/>
            <a:ext cx="5026054" cy="40333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9291674" y="3903711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9349" y="1639599"/>
            <a:ext cx="5457289" cy="28318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GB" sz="2800" dirty="0"/>
              <a:t>Geometry</a:t>
            </a:r>
          </a:p>
          <a:p>
            <a:pPr lvl="1"/>
            <a:r>
              <a:rPr lang="en-GB" dirty="0"/>
              <a:t>Tip geometry</a:t>
            </a:r>
          </a:p>
          <a:p>
            <a:pPr lvl="1"/>
            <a:r>
              <a:rPr lang="en-GB" dirty="0"/>
              <a:t>Blade sweep</a:t>
            </a:r>
          </a:p>
          <a:p>
            <a:pPr lvl="1"/>
            <a:r>
              <a:rPr lang="en-GB" dirty="0"/>
              <a:t>Varying blade spacing</a:t>
            </a:r>
          </a:p>
          <a:p>
            <a:pPr lvl="1"/>
            <a:r>
              <a:rPr lang="en-GB" dirty="0"/>
              <a:t>Trailing edge serrations</a:t>
            </a:r>
            <a:endParaRPr lang="en-GB" sz="2000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549271" y="4215265"/>
            <a:ext cx="5471416" cy="2487338"/>
            <a:chOff x="459350" y="4615094"/>
            <a:chExt cx="4456938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1811531" y="5637216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DEF540-2758-FFDA-4A9A-934D0BF28A52}"/>
              </a:ext>
            </a:extLst>
          </p:cNvPr>
          <p:cNvGrpSpPr/>
          <p:nvPr/>
        </p:nvGrpSpPr>
        <p:grpSpPr>
          <a:xfrm>
            <a:off x="396501" y="3571433"/>
            <a:ext cx="11398993" cy="3149089"/>
            <a:chOff x="341513" y="3528752"/>
            <a:chExt cx="11398993" cy="314908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873DD-E14A-D8F1-79ED-D3A98497AA28}"/>
                </a:ext>
              </a:extLst>
            </p:cNvPr>
            <p:cNvGrpSpPr/>
            <p:nvPr/>
          </p:nvGrpSpPr>
          <p:grpSpPr>
            <a:xfrm>
              <a:off x="341513" y="3528752"/>
              <a:ext cx="11398993" cy="3149089"/>
              <a:chOff x="370167" y="3611384"/>
              <a:chExt cx="11398993" cy="3149089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D423FC-03F4-D5A1-2483-AE0A82548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0167" y="4933196"/>
                <a:ext cx="5861841" cy="1827277"/>
              </a:xfrm>
              <a:prstGeom prst="rect">
                <a:avLst/>
              </a:prstGeom>
            </p:spPr>
          </p:pic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0C9D165-BE70-4E74-4603-F7C49AD44FC9}"/>
                  </a:ext>
                </a:extLst>
              </p:cNvPr>
              <p:cNvGrpSpPr/>
              <p:nvPr/>
            </p:nvGrpSpPr>
            <p:grpSpPr>
              <a:xfrm>
                <a:off x="6433123" y="3611384"/>
                <a:ext cx="5336037" cy="3001521"/>
                <a:chOff x="6433123" y="3611384"/>
                <a:chExt cx="5336037" cy="3001521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8E28C63F-94ED-AE22-8F66-C521AF20E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33123" y="3611384"/>
                  <a:ext cx="5336037" cy="3001521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6258E11-FAAE-C175-D482-1D2F77033364}"/>
                    </a:ext>
                  </a:extLst>
                </p:cNvPr>
                <p:cNvSpPr txBox="1"/>
                <p:nvPr/>
              </p:nvSpPr>
              <p:spPr>
                <a:xfrm>
                  <a:off x="8043808" y="3816655"/>
                  <a:ext cx="213585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dirty="0"/>
                    <a:t>L. Wang et al.</a:t>
                  </a: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21B5BFC-0666-1747-43A2-6F76CB712D48}"/>
                </a:ext>
              </a:extLst>
            </p:cNvPr>
            <p:cNvSpPr txBox="1"/>
            <p:nvPr/>
          </p:nvSpPr>
          <p:spPr>
            <a:xfrm>
              <a:off x="2403245" y="5703934"/>
              <a:ext cx="16544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B. Zang et al.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626" y="1786678"/>
            <a:ext cx="10343766" cy="4071025"/>
          </a:xfrm>
        </p:spPr>
        <p:txBody>
          <a:bodyPr anchor="ctr">
            <a:normAutofit/>
          </a:bodyPr>
          <a:lstStyle/>
          <a:p>
            <a:r>
              <a:rPr lang="en-GB" dirty="0"/>
              <a:t>Reducing tip loading will decrease tonal and broadband noise</a:t>
            </a:r>
          </a:p>
          <a:p>
            <a:endParaRPr lang="en-GB" dirty="0"/>
          </a:p>
          <a:p>
            <a:r>
              <a:rPr lang="en-GB" dirty="0"/>
              <a:t>Closed loop toroidal propellers predicted to have</a:t>
            </a:r>
          </a:p>
          <a:p>
            <a:pPr lvl="1"/>
            <a:r>
              <a:rPr lang="en-GB" sz="2800" dirty="0"/>
              <a:t>reduced tonal components due to sweep</a:t>
            </a:r>
          </a:p>
          <a:p>
            <a:pPr lvl="1"/>
            <a:r>
              <a:rPr lang="en-GB" sz="2800" dirty="0"/>
              <a:t>reduced broadband due to low tip loading.</a:t>
            </a:r>
          </a:p>
          <a:p>
            <a:endParaRPr lang="en-GB" dirty="0"/>
          </a:p>
          <a:p>
            <a:r>
              <a:rPr lang="en-GB" dirty="0"/>
              <a:t>Trailing edge serrations predicted to reduce blade wake interaction and hence the broadband noise.</a:t>
            </a:r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47" y="420949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4343502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experimental setups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Analyse and compare performance of the different designs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AAA1C-6749-297B-735C-924DA2CE1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1E9543B-D305-A95D-4A26-9A08F719F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2FD05-61FF-ED5E-1576-B40C045AD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5EDE1A-9062-AD43-DF26-D9E96BCCC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6ABDB-D530-4E22-34DE-AF1E04988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494E08-E107-2C0F-2BD9-9FC0EA879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53D2C8-8303-CE0B-DAF7-1F4713788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12" y="29073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Geometry Modifications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6DA977-C88F-498F-0C81-5ABBA8C7B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4" y="2927181"/>
            <a:ext cx="5204298" cy="16699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7B79E1-6F2F-D186-AD11-637A9414A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94" y="4528415"/>
            <a:ext cx="5204298" cy="19882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9CB367-7352-D22E-43D2-58CEC3BF7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904" y="1885279"/>
            <a:ext cx="5210188" cy="10485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A8A88-8658-E01C-FED1-D3F127C76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7505" y="2181723"/>
            <a:ext cx="2156143" cy="433489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046C491-2D00-B7B8-7100-67567EE958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541" y="2078676"/>
            <a:ext cx="1394738" cy="4488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881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rΩ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𝑟𝐴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measurements for torque, thrust and angular speed.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/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𝐹𝑂𝑀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  <m:sup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2/3</m:t>
                              </m:r>
                            </m:sup>
                          </m:sSub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4B8105-AB67-C5F8-1784-31BF50D6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7E2F0B1-559D-8AF4-BE87-827A893F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B7FEAB-C04D-1184-9E48-ED5D23977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4922DB-E2BC-FFA7-D69F-F4BCC9C21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20118-9CCC-2AE4-FA00-A5BCC73DE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 txBox="1">
            <a:spLocks/>
          </p:cNvSpPr>
          <p:nvPr/>
        </p:nvSpPr>
        <p:spPr>
          <a:xfrm>
            <a:off x="386594" y="168226"/>
            <a:ext cx="62703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>
                <a:solidFill>
                  <a:schemeClr val="bg1"/>
                </a:solidFill>
              </a:rPr>
              <a:t>Aerodynamic measurements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Cantilever models selected for sensitivity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strain gauge for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918" y="678959"/>
            <a:ext cx="5535079" cy="5706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337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Acoustic measurements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7441A-FA9D-6416-2F48-B1CF5C5E3D5A}"/>
              </a:ext>
            </a:extLst>
          </p:cNvPr>
          <p:cNvSpPr txBox="1"/>
          <p:nvPr/>
        </p:nvSpPr>
        <p:spPr>
          <a:xfrm>
            <a:off x="720762" y="1995544"/>
            <a:ext cx="423223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Separate acoustic setup</a:t>
            </a:r>
          </a:p>
          <a:p>
            <a:endParaRPr lang="en-GB" sz="2400" dirty="0"/>
          </a:p>
          <a:p>
            <a:r>
              <a:rPr lang="en-GB" sz="2400" dirty="0"/>
              <a:t>Acoustically insulate motor</a:t>
            </a:r>
          </a:p>
          <a:p>
            <a:endParaRPr lang="en-GB" sz="2400" dirty="0"/>
          </a:p>
          <a:p>
            <a:r>
              <a:rPr lang="en-GB" sz="2400" dirty="0"/>
              <a:t>Calibrated microphone will be moved around the propeller to measure directivity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2FB14C-2BFA-7005-0BDD-85C20A79B2FF}"/>
              </a:ext>
            </a:extLst>
          </p:cNvPr>
          <p:cNvSpPr/>
          <p:nvPr/>
        </p:nvSpPr>
        <p:spPr>
          <a:xfrm>
            <a:off x="9594509" y="3675442"/>
            <a:ext cx="709217" cy="7672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344AF3-D23C-4669-0B36-A3267FB2322E}"/>
              </a:ext>
            </a:extLst>
          </p:cNvPr>
          <p:cNvSpPr/>
          <p:nvPr/>
        </p:nvSpPr>
        <p:spPr>
          <a:xfrm>
            <a:off x="6228678" y="1922470"/>
            <a:ext cx="5783416" cy="4108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9F98A153-4E1B-3B61-09E8-2EFDCFAEBD9D}"/>
              </a:ext>
            </a:extLst>
          </p:cNvPr>
          <p:cNvSpPr/>
          <p:nvPr/>
        </p:nvSpPr>
        <p:spPr>
          <a:xfrm>
            <a:off x="7069498" y="2335065"/>
            <a:ext cx="4011210" cy="3447957"/>
          </a:xfrm>
          <a:prstGeom prst="arc">
            <a:avLst>
              <a:gd name="adj1" fmla="val 13538050"/>
              <a:gd name="adj2" fmla="val 2150237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 descr="A black microphone icon&#10;&#10;Description automatically generated">
            <a:extLst>
              <a:ext uri="{FF2B5EF4-FFF2-40B4-BE49-F238E27FC236}">
                <a16:creationId xmlns:a16="http://schemas.microsoft.com/office/drawing/2014/main" id="{C73239C3-3601-685D-F630-2EDB042840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9455" y1="72131" x2="49455" y2="7213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284" y="2025228"/>
            <a:ext cx="951418" cy="633125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54DDB280-4E08-210E-6E34-3C9D1C7D13DC}"/>
              </a:ext>
            </a:extLst>
          </p:cNvPr>
          <p:cNvSpPr/>
          <p:nvPr/>
        </p:nvSpPr>
        <p:spPr>
          <a:xfrm>
            <a:off x="10985458" y="3895725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52010F-A772-F928-6525-37478CBBEC97}"/>
              </a:ext>
            </a:extLst>
          </p:cNvPr>
          <p:cNvSpPr/>
          <p:nvPr/>
        </p:nvSpPr>
        <p:spPr>
          <a:xfrm>
            <a:off x="10701592" y="3120976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8BD5B0-08F1-1842-7A50-692C1966A461}"/>
              </a:ext>
            </a:extLst>
          </p:cNvPr>
          <p:cNvSpPr/>
          <p:nvPr/>
        </p:nvSpPr>
        <p:spPr>
          <a:xfrm>
            <a:off x="8448508" y="4548280"/>
            <a:ext cx="1272402" cy="123474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black and white image of a couple of cotton swabs&#10;&#10;Description automatically generated">
            <a:extLst>
              <a:ext uri="{FF2B5EF4-FFF2-40B4-BE49-F238E27FC236}">
                <a16:creationId xmlns:a16="http://schemas.microsoft.com/office/drawing/2014/main" id="{5854F576-6B54-6249-5A72-58815CEA4B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806329" y="3530363"/>
            <a:ext cx="2575328" cy="185261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9FEAD75-7FE1-CC7B-9CF4-65F7AA58726E}"/>
              </a:ext>
            </a:extLst>
          </p:cNvPr>
          <p:cNvSpPr txBox="1"/>
          <p:nvPr/>
        </p:nvSpPr>
        <p:spPr>
          <a:xfrm>
            <a:off x="8732202" y="4894330"/>
            <a:ext cx="685800" cy="64918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07FF39-D1F0-23CF-044C-4C53A559F114}"/>
              </a:ext>
            </a:extLst>
          </p:cNvPr>
          <p:cNvCxnSpPr/>
          <p:nvPr/>
        </p:nvCxnSpPr>
        <p:spPr>
          <a:xfrm flipH="1" flipV="1">
            <a:off x="7839075" y="2758760"/>
            <a:ext cx="1262063" cy="1246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/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Arc 34">
            <a:extLst>
              <a:ext uri="{FF2B5EF4-FFF2-40B4-BE49-F238E27FC236}">
                <a16:creationId xmlns:a16="http://schemas.microsoft.com/office/drawing/2014/main" id="{5111A3C0-9DF7-DB8C-A593-7AFD08700D98}"/>
              </a:ext>
            </a:extLst>
          </p:cNvPr>
          <p:cNvSpPr/>
          <p:nvPr/>
        </p:nvSpPr>
        <p:spPr>
          <a:xfrm>
            <a:off x="6949441" y="2605869"/>
            <a:ext cx="3563535" cy="3042456"/>
          </a:xfrm>
          <a:prstGeom prst="arc">
            <a:avLst>
              <a:gd name="adj1" fmla="val 20194489"/>
              <a:gd name="adj2" fmla="val 2138973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8648488-BABC-02B7-5F54-D3F923A14721}"/>
              </a:ext>
            </a:extLst>
          </p:cNvPr>
          <p:cNvCxnSpPr>
            <a:cxnSpLocks/>
          </p:cNvCxnSpPr>
          <p:nvPr/>
        </p:nvCxnSpPr>
        <p:spPr>
          <a:xfrm flipH="1">
            <a:off x="9720910" y="3003482"/>
            <a:ext cx="1499794" cy="723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CF2D22A-78AF-FC33-A39B-997CEA474A58}"/>
              </a:ext>
            </a:extLst>
          </p:cNvPr>
          <p:cNvCxnSpPr>
            <a:cxnSpLocks/>
          </p:cNvCxnSpPr>
          <p:nvPr/>
        </p:nvCxnSpPr>
        <p:spPr>
          <a:xfrm flipH="1">
            <a:off x="10208915" y="3998850"/>
            <a:ext cx="12710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/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C7607D-6C99-8A72-BB0E-0D8646CB2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Preliminary setup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E190A3-5FBC-0D78-B099-0031FC35A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496" y="2074260"/>
            <a:ext cx="5446149" cy="4032147"/>
          </a:xfrm>
          <a:prstGeom prst="rect">
            <a:avLst/>
          </a:prstGeom>
        </p:spPr>
      </p:pic>
      <p:pic>
        <p:nvPicPr>
          <p:cNvPr id="16" name="Picture 15" descr="A fan on a table&#10;&#10;Description automatically generated">
            <a:extLst>
              <a:ext uri="{FF2B5EF4-FFF2-40B4-BE49-F238E27FC236}">
                <a16:creationId xmlns:a16="http://schemas.microsoft.com/office/drawing/2014/main" id="{F1B7C94D-EBEC-3A93-1CEB-1AB67958F0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3" r="20131"/>
          <a:stretch/>
        </p:blipFill>
        <p:spPr>
          <a:xfrm rot="5400000">
            <a:off x="1076461" y="1429311"/>
            <a:ext cx="411257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709" y="4723549"/>
            <a:ext cx="10515600" cy="1325563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8F77CED-4624-8290-2A0D-089D1BE580B9}"/>
              </a:ext>
            </a:extLst>
          </p:cNvPr>
          <p:cNvSpPr txBox="1">
            <a:spLocks/>
          </p:cNvSpPr>
          <p:nvPr/>
        </p:nvSpPr>
        <p:spPr>
          <a:xfrm>
            <a:off x="65070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Summary and 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95B41-79D9-3866-8416-AEA780AB929D}"/>
              </a:ext>
            </a:extLst>
          </p:cNvPr>
          <p:cNvSpPr txBox="1"/>
          <p:nvPr/>
        </p:nvSpPr>
        <p:spPr>
          <a:xfrm>
            <a:off x="740441" y="1378291"/>
            <a:ext cx="65078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Reducing drone noise important for adoption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Not an easy problem, large design space</a:t>
            </a:r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5394</TotalTime>
  <Words>729</Words>
  <Application>Microsoft Office PowerPoint</Application>
  <PresentationFormat>Widescreen</PresentationFormat>
  <Paragraphs>127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Sources of propeller noise</vt:lpstr>
      <vt:lpstr>PowerPoint Presentation</vt:lpstr>
      <vt:lpstr>Noise reduction geometry</vt:lpstr>
      <vt:lpstr>Hypothesis</vt:lpstr>
      <vt:lpstr>Objectives</vt:lpstr>
      <vt:lpstr>Geometry Modifications</vt:lpstr>
      <vt:lpstr>Aerodynamic performance</vt:lpstr>
      <vt:lpstr>PowerPoint Presentation</vt:lpstr>
      <vt:lpstr>Acoustic measurements</vt:lpstr>
      <vt:lpstr>Preliminary setup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116</cp:revision>
  <dcterms:created xsi:type="dcterms:W3CDTF">2024-11-22T13:57:46Z</dcterms:created>
  <dcterms:modified xsi:type="dcterms:W3CDTF">2024-11-27T17:00:29Z</dcterms:modified>
</cp:coreProperties>
</file>