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5" r:id="rId4"/>
    <p:sldId id="258" r:id="rId5"/>
    <p:sldId id="261" r:id="rId6"/>
    <p:sldId id="263" r:id="rId7"/>
    <p:sldId id="264" r:id="rId8"/>
    <p:sldId id="266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1375" autoAdjust="0"/>
  </p:normalViewPr>
  <p:slideViewPr>
    <p:cSldViewPr snapToGrid="0">
      <p:cViewPr varScale="1">
        <p:scale>
          <a:sx n="102" d="100"/>
          <a:sy n="102" d="100"/>
        </p:scale>
        <p:origin x="954" y="102"/>
      </p:cViewPr>
      <p:guideLst/>
    </p:cSldViewPr>
  </p:slideViewPr>
  <p:notesTextViewPr>
    <p:cViewPr>
      <p:scale>
        <a:sx n="98" d="100"/>
        <a:sy n="98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BB89D3-1E85-48CA-BFDB-0FE03B3C9B40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AB5C0-8D71-4250-8AD2-76EE2272295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755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57036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23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 course this isn’t a new topic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07897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the experimental setup it's important to consider the parameters needed to define a given propellers performance. Dimensionless thrust and power coefficients can be found from blade tip speed and area. The ratio of these coefficients define a ‘static’ efficiency which is different to the typical propulsive efficiency. The values then required to be measured are the torque, thrust and angular speed.</a:t>
            </a:r>
          </a:p>
          <a:p>
            <a:r>
              <a:rPr lang="en-GB" dirty="0"/>
              <a:t>Dynamic measurements of torque and angular velocity could be fused together in a Kalman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07822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measure torque and thrust the deflection of load cells will be measured by strain gauges. This was chosen over null force balancing methods for its simple setup and sufficient accuracy.</a:t>
            </a:r>
          </a:p>
          <a:p>
            <a:r>
              <a:rPr lang="en-GB" dirty="0"/>
              <a:t>Full bridge load cell refers to 4 strain gauges in the Wheatstone bridge which compensates for off axis forces.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805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4A269-5AE8-9590-DCC7-9890676E7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F157E-C3BE-9784-7A11-4C5C111EEE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7A0064-D3D7-4671-F3AA-71BDDD4FD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74A90-A543-A4A5-78E1-8A4D6F45E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6A39B-CB52-CB65-8F37-E519420F0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79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344B0-F44B-BC44-4621-DFBFBFF78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48BA3-59E1-0ACA-78A4-BFA5170DC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18B79-5DA7-9B4D-62C9-A9B9DE6DC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41498-BD25-EB5A-B7E0-9F69B5AAC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8CBBF-7C1F-DB0F-7C3E-B03D2B430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079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75303-F02B-4BA7-6F80-777EF3F48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D2542-4634-DF42-0F22-CA0C37E32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193E9-DE39-13B2-68BC-41019A845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2CBDB-D82F-EE87-3053-6FEF2874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A3069-2793-956D-1E92-FAB2BF993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0360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33B91-0CF1-BF89-8CC6-EB71EA645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C8786-6211-BC53-5D92-DFFCC78A1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86FDA3-409F-F1D2-5E28-263519724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CA2EE4-B849-D250-1145-08E7190D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C9BCD2-4FE6-A729-9DEB-E55CFF2A3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332C2-3ED4-E1D6-0530-6487B7A8D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23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3E5F-1FB6-13C6-C7F4-EB9B245F1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84CB1-4079-AC7D-32DF-F82585545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231250-0482-53E1-744C-1D983130F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585D79-C408-76CC-D58D-D65BB8D478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ECE2C5-3C19-4162-8BA5-680E9C28A0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A8DB51-E808-B626-634E-51319CC52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492F4E-DF88-23CE-539C-54D951290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8D2CC-F632-2C97-E571-C4BEEE7B8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839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E0DA-48C7-A9ED-CC80-F9A288DD1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A575E9-483B-090D-E9F0-9498A256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01D19-6781-33F6-A2AC-70DDFE9D6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61EACB-7B57-ACE9-27FD-C06AC1AE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973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05B12-C1D3-CD71-4F2B-084E242DB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1B6155-D26D-4589-7DF3-95BE79D0B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D13DD-7AF5-F736-7739-BD8D535D0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945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0A568-7B9C-0EFA-0BF7-28DE3FE1F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0578A-0B1D-2D6B-8ED3-2169ABA43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1CE73-4A1E-3417-053A-F5F70F583A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49FFC-F144-09D0-6B06-F66E86EE8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94071-F8B3-4475-E773-B4C0477A5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435CB-6FCD-F35E-5F06-3FF54D4A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490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1A9C-1329-A56F-2537-D8E5DFA0A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CCF3AA-3445-6E97-290F-6A3C26AE0D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84BC6D-12B7-9C4B-BEEF-E9EBFE9E75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1E670-C2F8-AB48-68EF-2B320141F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FD70B-3326-297B-352C-E9D50E281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B2D117-A90C-3474-0A9A-3202742C7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0041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962BD-3C37-D003-3EE2-054EC79D3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CF2F28-F84B-8816-4FEA-71A6D32CF3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885994-D9F3-ED6C-3FA9-4679CB1D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5D7EA-4ED0-2188-805B-FB080038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83693-FFA7-02E2-BC83-E50ACB8A7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478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557076-BF26-873C-2810-4A6BA2A71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800107-5A74-BF00-0208-E9C0CDED5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BDE91-8602-55EC-C697-946321BB8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91B15-27C7-4233-5901-4F00FDA80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F06BA-6E22-97E4-FC84-1FC937810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1440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48AE4-5F0C-24CC-7437-58C986BB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A3C7B-08CD-8FD7-8217-8DF7285CD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22863-BB98-E95D-A5F9-4B93CC21DB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C3C57F-C92A-483E-A8E5-2F94B59C9323}" type="datetimeFigureOut">
              <a:rPr lang="en-GB" smtClean="0"/>
              <a:t>25/11/2024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CFB1F-00DC-6F7F-5F3E-48BC369C7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F51B6-23BB-BDAD-E07F-8E9DAF178A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2142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189A5C-8EAF-D622-9AD8-85747CADC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en-GB" sz="4800">
                <a:solidFill>
                  <a:srgbClr val="FFFFFF"/>
                </a:solidFill>
              </a:rPr>
              <a:t>Acoustic Signatures of Quadcopter Propellers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757E4D-9D2A-E465-6BD0-4F479ABA0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n-GB" dirty="0">
                <a:solidFill>
                  <a:srgbClr val="FFFFFF"/>
                </a:solidFill>
              </a:rPr>
              <a:t>Louis Pender</a:t>
            </a:r>
          </a:p>
          <a:p>
            <a:pPr algn="l"/>
            <a:r>
              <a:rPr lang="en-GB" dirty="0">
                <a:solidFill>
                  <a:srgbClr val="FFFFFF"/>
                </a:solidFill>
              </a:rPr>
              <a:t>LWP26</a:t>
            </a:r>
          </a:p>
        </p:txBody>
      </p:sp>
    </p:spTree>
    <p:extLst>
      <p:ext uri="{BB962C8B-B14F-4D97-AF65-F5344CB8AC3E}">
        <p14:creationId xmlns:p14="http://schemas.microsoft.com/office/powerpoint/2010/main" val="289182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8B66DD-BA91-54D3-4B60-73B1C0960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Context and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4A76D-A7FD-8847-FF28-6A5BE4C3D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350" y="1768200"/>
            <a:ext cx="11484411" cy="479526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/>
              <a:t>The widespread adoption of drone-based services is limited by their negative public perception, which is in part due to the irritating noise they make.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Propellers are the primary source of noise but also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Recent research has focused on optimising aerodynamic and aeroacoustics performance to overcome these barriers.</a:t>
            </a:r>
          </a:p>
        </p:txBody>
      </p:sp>
    </p:spTree>
    <p:extLst>
      <p:ext uri="{BB962C8B-B14F-4D97-AF65-F5344CB8AC3E}">
        <p14:creationId xmlns:p14="http://schemas.microsoft.com/office/powerpoint/2010/main" val="3029635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B5025B-3D80-0CC4-2006-923A1BC2A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D4F78A-F37B-B1DE-69AB-C270AC8F1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5745CF-9619-AF40-1167-3856C048C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E8B599-FC68-4E63-838A-8742AE80E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F0590A-59B4-6573-5680-74BEE528B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2AD4C7-3E3E-AA35-1F16-8BCB03653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DF2F80-4B94-3290-D89A-4F89C94F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05" y="285873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Previous aero acoustic research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CA7AA-5659-48B1-C827-BCB210B1C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818" y="1682605"/>
            <a:ext cx="9724031" cy="3001521"/>
          </a:xfrm>
        </p:spPr>
        <p:txBody>
          <a:bodyPr anchor="ctr">
            <a:normAutofit/>
          </a:bodyPr>
          <a:lstStyle/>
          <a:p>
            <a:pPr lvl="1"/>
            <a:r>
              <a:rPr lang="en-GB" sz="2800" dirty="0"/>
              <a:t>Tip geometry</a:t>
            </a:r>
          </a:p>
          <a:p>
            <a:pPr lvl="1"/>
            <a:r>
              <a:rPr lang="en-GB" sz="2800" dirty="0"/>
              <a:t>Blade sweep</a:t>
            </a:r>
          </a:p>
          <a:p>
            <a:pPr lvl="1"/>
            <a:r>
              <a:rPr lang="en-GB" sz="2800" dirty="0"/>
              <a:t>Varying blade spacing</a:t>
            </a:r>
          </a:p>
          <a:p>
            <a:pPr lvl="1"/>
            <a:r>
              <a:rPr lang="en-GB" sz="2800" dirty="0"/>
              <a:t>Trailing edge serrations</a:t>
            </a:r>
            <a:endParaRPr lang="en-GB" dirty="0"/>
          </a:p>
          <a:p>
            <a:endParaRPr lang="en-GB" sz="20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16BA01-436A-5812-342F-E42141AB22F6}"/>
              </a:ext>
            </a:extLst>
          </p:cNvPr>
          <p:cNvGrpSpPr/>
          <p:nvPr/>
        </p:nvGrpSpPr>
        <p:grpSpPr>
          <a:xfrm>
            <a:off x="7287219" y="441171"/>
            <a:ext cx="4445431" cy="1948368"/>
            <a:chOff x="459350" y="4615094"/>
            <a:chExt cx="4445431" cy="194836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6EB6A47-5DB1-4897-6746-A076ABF9F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9009"/>
            <a:stretch/>
          </p:blipFill>
          <p:spPr>
            <a:xfrm>
              <a:off x="459350" y="4615094"/>
              <a:ext cx="4445431" cy="1948368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09827F-FB05-2B25-3EE1-3339B337B035}"/>
                </a:ext>
              </a:extLst>
            </p:cNvPr>
            <p:cNvSpPr txBox="1"/>
            <p:nvPr/>
          </p:nvSpPr>
          <p:spPr>
            <a:xfrm>
              <a:off x="528178" y="5419923"/>
              <a:ext cx="31047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C. F. Wisniewski et al.</a:t>
              </a: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AFBB8285-6432-1BCC-8C52-B726981C3B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323" y="2667429"/>
            <a:ext cx="5026054" cy="403339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7CD423FC-03F4-D5A1-2483-AE0A82548D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859" y="4590779"/>
            <a:ext cx="5861841" cy="1827277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4200314-9225-28E0-2806-649E768B771D}"/>
              </a:ext>
            </a:extLst>
          </p:cNvPr>
          <p:cNvSpPr txBox="1"/>
          <p:nvPr/>
        </p:nvSpPr>
        <p:spPr>
          <a:xfrm>
            <a:off x="7959365" y="3673718"/>
            <a:ext cx="26039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A. D. Wiedemann et al.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1B5BFC-0666-1747-43A2-6F76CB712D48}"/>
              </a:ext>
            </a:extLst>
          </p:cNvPr>
          <p:cNvSpPr txBox="1"/>
          <p:nvPr/>
        </p:nvSpPr>
        <p:spPr>
          <a:xfrm>
            <a:off x="2403245" y="5703934"/>
            <a:ext cx="16544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B. Zang et al.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28C63F-94ED-AE22-8F66-C521AF20E8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7492" y="3420589"/>
            <a:ext cx="5336037" cy="3001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410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6D6236-4AA6-6861-46AD-140A40AA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E358F-D7FF-016F-569C-6BD94603C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719" y="2638708"/>
            <a:ext cx="10398046" cy="3683358"/>
          </a:xfrm>
        </p:spPr>
        <p:txBody>
          <a:bodyPr anchor="ctr">
            <a:normAutofit/>
          </a:bodyPr>
          <a:lstStyle/>
          <a:p>
            <a:r>
              <a:rPr lang="en-GB" dirty="0"/>
              <a:t>Design and build an experimental setup to measure</a:t>
            </a:r>
            <a:r>
              <a:rPr lang="en-GB" b="1" dirty="0"/>
              <a:t> aerodynamic performance</a:t>
            </a:r>
            <a:r>
              <a:rPr lang="en-GB" dirty="0"/>
              <a:t> and </a:t>
            </a:r>
            <a:r>
              <a:rPr lang="en-GB" b="1" dirty="0"/>
              <a:t>acoustic signatures </a:t>
            </a:r>
            <a:r>
              <a:rPr lang="en-GB" dirty="0"/>
              <a:t>of various propeller designs</a:t>
            </a:r>
          </a:p>
          <a:p>
            <a:endParaRPr lang="en-GB" dirty="0"/>
          </a:p>
          <a:p>
            <a:r>
              <a:rPr lang="en-GB" dirty="0"/>
              <a:t>Attribute </a:t>
            </a:r>
            <a:r>
              <a:rPr lang="en-US" dirty="0"/>
              <a:t>changes in the acoustic spectrum to flow phenomena caused by propeller geometry modifications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/>
              <a:t>Analyse psychoacoustic performance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3545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EF8942-9360-F860-55C9-3090EA785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Aerodynamic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</p:spPr>
            <p:txBody>
              <a:bodyPr anchor="ctr">
                <a:normAutofit/>
              </a:bodyPr>
              <a:lstStyle/>
              <a:p>
                <a:r>
                  <a:rPr lang="en-GB" sz="2400" dirty="0"/>
                  <a:t>Aerodynamic performance quantities</a:t>
                </a:r>
              </a:p>
              <a:p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sz="2400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GB" sz="2400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GB" sz="24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sz="24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GB" sz="240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GB" sz="24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p>
                              <m:r>
                                <a:rPr lang="en-GB" sz="2400" b="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a:rPr lang="en-GB" sz="2400" b="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sz="2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sz="2400" b="0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GB" sz="2400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4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b="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en-GB" sz="24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sz="24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GB" sz="2400" b="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GB" sz="24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4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p>
                              <m:r>
                                <a:rPr lang="en-GB" sz="2400" b="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Power is obtained from </a:t>
                </a:r>
                <a14:m>
                  <m:oMath xmlns:m="http://schemas.openxmlformats.org/officeDocument/2006/math">
                    <m:r>
                      <a:rPr lang="en-GB" sz="2400" b="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GB" sz="2400" b="0" i="1">
                        <a:latin typeface="Cambria Math" panose="02040503050406030204" pitchFamily="18" charset="0"/>
                      </a:rPr>
                      <m:t>⋅2</m:t>
                    </m:r>
                    <m:r>
                      <a:rPr lang="en-GB" sz="2400" b="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GB" sz="2400" b="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400" dirty="0"/>
                  <a:t> 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Require values for torque, thrust and angular speed.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  <a:blipFill>
                <a:blip r:embed="rId3"/>
                <a:stretch>
                  <a:fillRect l="-94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4570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D9AC5-0EC4-38D7-8E7D-41944460A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570" y="231946"/>
            <a:ext cx="10515600" cy="1325563"/>
          </a:xfrm>
        </p:spPr>
        <p:txBody>
          <a:bodyPr/>
          <a:lstStyle/>
          <a:p>
            <a:r>
              <a:rPr lang="en-GB"/>
              <a:t>Aerodynamic measurements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375A3-69B7-413F-69EC-A8BA51B8A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45" y="1756051"/>
            <a:ext cx="5304181" cy="46298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/>
              <a:t>Torque and thrust measured by strain gauge load cells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Full bridge cantilever models selected for sensitivity and resistance to off-axis forces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Orientation selected for accuracy, and ease of calibration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86DFC9-3FCE-4B2C-21D4-5096FA13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4" y="1236485"/>
            <a:ext cx="5199557" cy="5360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031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53C29-8BE0-FA3F-BADF-EB4F5C5E7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Acoustic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C9FEE-F51C-BBC5-5750-D5F85AFD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677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Can be separated into tonal and broadband.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To quantify the perceived annoyance of sound, a psychoacoustic model must be considered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US" dirty="0"/>
              <a:t>Psychoacoustic annoyance can be quantified </a:t>
            </a:r>
            <a:r>
              <a:rPr lang="en-GB" dirty="0"/>
              <a:t>using Zwicker’s model which defines </a:t>
            </a:r>
            <a:r>
              <a:rPr lang="en-US" dirty="0"/>
              <a:t>metrics of loudness, fluctuation strength, roughness, sharpness.</a:t>
            </a:r>
          </a:p>
        </p:txBody>
      </p:sp>
    </p:spTree>
    <p:extLst>
      <p:ext uri="{BB962C8B-B14F-4D97-AF65-F5344CB8AC3E}">
        <p14:creationId xmlns:p14="http://schemas.microsoft.com/office/powerpoint/2010/main" val="1354065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E22670F-0D71-AD7E-B183-43040CD27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978" y="447674"/>
            <a:ext cx="6820194" cy="61753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AA5FBC-085C-6F67-FFE6-B768D4CC0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55575"/>
            <a:ext cx="10515600" cy="1325563"/>
          </a:xfrm>
        </p:spPr>
        <p:txBody>
          <a:bodyPr/>
          <a:lstStyle/>
          <a:p>
            <a:r>
              <a:rPr lang="en-GB" dirty="0"/>
              <a:t>Acoustic measurements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E54BC4-6E6B-11A7-1B30-9A93B0ACC3A4}"/>
                  </a:ext>
                </a:extLst>
              </p:cNvPr>
              <p:cNvSpPr txBox="1"/>
              <p:nvPr/>
            </p:nvSpPr>
            <p:spPr>
              <a:xfrm rot="2674917">
                <a:off x="7101426" y="3867428"/>
                <a:ext cx="6756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2.5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E54BC4-6E6B-11A7-1B30-9A93B0ACC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74917">
                <a:off x="7101426" y="3867428"/>
                <a:ext cx="6756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6808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ECBE2-A4C4-70B6-C758-B1BD9EEA9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451" y="249153"/>
            <a:ext cx="10515600" cy="1325563"/>
          </a:xfrm>
        </p:spPr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BC597-3E26-981B-2200-703284AC4B74}"/>
              </a:ext>
            </a:extLst>
          </p:cNvPr>
          <p:cNvSpPr txBox="1"/>
          <p:nvPr/>
        </p:nvSpPr>
        <p:spPr>
          <a:xfrm>
            <a:off x="922949" y="4398395"/>
            <a:ext cx="6095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Toroidal propeller designs – Thingyverse </a:t>
            </a:r>
          </a:p>
          <a:p>
            <a:r>
              <a:rPr lang="en-GB" dirty="0"/>
              <a:t>Owl image – Wang and Liu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2EDC919-4D0D-9CAF-829E-6BC52F9E82E6}"/>
              </a:ext>
            </a:extLst>
          </p:cNvPr>
          <p:cNvSpPr txBox="1">
            <a:spLocks/>
          </p:cNvSpPr>
          <p:nvPr/>
        </p:nvSpPr>
        <p:spPr>
          <a:xfrm>
            <a:off x="753451" y="307283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1414727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3618</TotalTime>
  <Words>407</Words>
  <Application>Microsoft Office PowerPoint</Application>
  <PresentationFormat>Widescreen</PresentationFormat>
  <Paragraphs>59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Acoustic Signatures of Quadcopter Propellers</vt:lpstr>
      <vt:lpstr>Context and application</vt:lpstr>
      <vt:lpstr>Previous aero acoustic research</vt:lpstr>
      <vt:lpstr>Objectives</vt:lpstr>
      <vt:lpstr>Aerodynamic performance</vt:lpstr>
      <vt:lpstr>Aerodynamic measurements</vt:lpstr>
      <vt:lpstr>Acoustic performance</vt:lpstr>
      <vt:lpstr>Acoustic measurements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Louis Pender</dc:creator>
  <cp:lastModifiedBy>Louis Pender</cp:lastModifiedBy>
  <cp:revision>31</cp:revision>
  <dcterms:created xsi:type="dcterms:W3CDTF">2024-11-22T13:57:46Z</dcterms:created>
  <dcterms:modified xsi:type="dcterms:W3CDTF">2024-11-26T01:26:59Z</dcterms:modified>
</cp:coreProperties>
</file>