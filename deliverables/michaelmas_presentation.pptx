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71" r:id="rId4"/>
    <p:sldId id="265" r:id="rId5"/>
    <p:sldId id="270" r:id="rId6"/>
    <p:sldId id="276" r:id="rId7"/>
    <p:sldId id="268" r:id="rId8"/>
    <p:sldId id="258" r:id="rId9"/>
    <p:sldId id="275" r:id="rId10"/>
    <p:sldId id="261" r:id="rId11"/>
    <p:sldId id="273" r:id="rId12"/>
    <p:sldId id="266" r:id="rId13"/>
    <p:sldId id="272" r:id="rId14"/>
    <p:sldId id="27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71049" autoAdjust="0"/>
  </p:normalViewPr>
  <p:slideViewPr>
    <p:cSldViewPr snapToGrid="0">
      <p:cViewPr>
        <p:scale>
          <a:sx n="85" d="100"/>
          <a:sy n="85" d="100"/>
        </p:scale>
        <p:origin x="1578" y="30"/>
      </p:cViewPr>
      <p:guideLst/>
    </p:cSldViewPr>
  </p:slideViewPr>
  <p:notesTextViewPr>
    <p:cViewPr>
      <p:scale>
        <a:sx n="116" d="100"/>
        <a:sy n="116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BB89D3-1E85-48CA-BFDB-0FE03B3C9B40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AB5C0-8D71-4250-8AD2-76EE2272295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755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57036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noise made by drones acts as a barrier to their wider adoption for drone-based services such as </a:t>
            </a:r>
          </a:p>
          <a:p>
            <a:r>
              <a:rPr lang="en-GB" dirty="0"/>
              <a:t>logistics, surveying and mapping.</a:t>
            </a:r>
          </a:p>
          <a:p>
            <a:r>
              <a:rPr lang="en-GB" dirty="0"/>
              <a:t>Propellers are a small part of a drone’s cost to produce,</a:t>
            </a:r>
          </a:p>
          <a:p>
            <a:r>
              <a:rPr lang="en-GB" dirty="0"/>
              <a:t>but efficient designs can increase productivity such as payload and flight time.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Propellers are also the main source of noise from drones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23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85965-03A0-3412-9CD0-8FE780753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6E0E5-229F-CCAB-1A3E-1C4984C17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B81DF3-6DFC-9AA1-341D-1C675D6AD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sound can be split into two:</a:t>
            </a:r>
          </a:p>
          <a:p>
            <a:r>
              <a:rPr lang="en-GB" dirty="0"/>
              <a:t>Broadband distributed over a wide range of frequencies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Tonal at discrete frequency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r>
              <a:rPr lang="en-GB" dirty="0"/>
              <a:t>Broadband noise primarily consists of formation and shedding of vortices</a:t>
            </a:r>
          </a:p>
          <a:p>
            <a:r>
              <a:rPr lang="en-GB" dirty="0"/>
              <a:t>Trailing edge turbulent interaction and flow separation</a:t>
            </a:r>
          </a:p>
          <a:p>
            <a:endParaRPr lang="en-GB" dirty="0"/>
          </a:p>
          <a:p>
            <a:r>
              <a:rPr lang="en-GB" dirty="0"/>
              <a:t>Tonal noise primarily consists of </a:t>
            </a:r>
          </a:p>
          <a:p>
            <a:r>
              <a:rPr lang="en-GB" dirty="0"/>
              <a:t>oscillating thickness displacement and pressure loading</a:t>
            </a:r>
          </a:p>
          <a:p>
            <a:r>
              <a:rPr lang="en-GB" dirty="0"/>
              <a:t>But can include BVI and blade wake interactions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763B6-BEAA-719C-B63B-028D5D72EC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2793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Noise reduction at a similar level of performance has been achieved.</a:t>
            </a:r>
          </a:p>
          <a:p>
            <a:r>
              <a:rPr lang="en-GB" dirty="0"/>
              <a:t>Tip geometry has reduced broadband and in some cases blade pass frequency tones.</a:t>
            </a:r>
          </a:p>
          <a:p>
            <a:r>
              <a:rPr lang="en-GB" dirty="0"/>
              <a:t>Variable blade spacing and trailing edge serrations reduced the broadband noise by destructive acoustic interference and mixing</a:t>
            </a:r>
          </a:p>
          <a:p>
            <a:r>
              <a:rPr lang="en-GB" dirty="0"/>
              <a:t>It's also worth noting that these trailing edge serrations at low Reynolds numbers were inspired by owl wings.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07897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Y axis represents a psychoacoustic annoyance factor which is used to quantify subjective feelings caused by sound.</a:t>
            </a:r>
          </a:p>
          <a:p>
            <a:r>
              <a:rPr lang="en-GB" dirty="0"/>
              <a:t>The FM colour bar represents a static efficiency.</a:t>
            </a:r>
          </a:p>
          <a:p>
            <a:r>
              <a:rPr lang="en-GB" dirty="0"/>
              <a:t>This graph shows two important things</a:t>
            </a:r>
          </a:p>
          <a:p>
            <a:r>
              <a:rPr lang="en-GB" dirty="0"/>
              <a:t>Reducing thrust can significantly reduce acoustic annoyance</a:t>
            </a:r>
          </a:p>
          <a:p>
            <a:r>
              <a:rPr lang="en-GB" dirty="0"/>
              <a:t>For a fixed thrust a reduction in acoustic annoyance comes at a penalty of efficiency.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95435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020FF-4726-6A10-FE80-2F512F397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0509A5-E36A-162D-39DC-02798522CC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2CB396-2D82-CB96-1B11-D38C7E8CD9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Y axis represents a psychoacoustic annoyance factor which is used to quantify subjective feelings caused by sound.</a:t>
            </a:r>
          </a:p>
          <a:p>
            <a:r>
              <a:rPr lang="en-GB" dirty="0"/>
              <a:t>The FM colour bar represents a static efficiency.</a:t>
            </a:r>
          </a:p>
          <a:p>
            <a:r>
              <a:rPr lang="en-GB" dirty="0"/>
              <a:t>This graph shows two important things</a:t>
            </a:r>
          </a:p>
          <a:p>
            <a:r>
              <a:rPr lang="en-GB" dirty="0"/>
              <a:t>Reducing thrust can significantly reduce acoustic annoyance</a:t>
            </a:r>
          </a:p>
          <a:p>
            <a:r>
              <a:rPr lang="en-GB" dirty="0"/>
              <a:t>For a fixed thrust a reduction in acoustic annoyance comes at a penalty of efficiency.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F55B2-5C9D-C938-8747-C8EB1948E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42095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2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objectives of this project are to design and build an experimental setup to measure aerodynamic and aeroacoustics performance.</a:t>
            </a:r>
          </a:p>
          <a:p>
            <a:r>
              <a:rPr lang="en-GB" dirty="0"/>
              <a:t>This will be done for varying propeller geometry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2649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96EA8-02F3-2F30-B4E2-D4E4B265B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FB3C0D-6E41-BC99-934B-974A1E72A4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A6453A-1E10-028D-52A8-A7854ED6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These are some examples of geometry modifications that are planned to be made.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 conventional propeller optimised for efficiency will be used as a base case.</a:t>
            </a:r>
          </a:p>
          <a:p>
            <a:r>
              <a:rPr lang="en-GB" dirty="0"/>
              <a:t>The left shows varying amounts of sweep for the toroidal propeller.</a:t>
            </a:r>
          </a:p>
          <a:p>
            <a:r>
              <a:rPr lang="en-GB" dirty="0"/>
              <a:t>Trailing edge serrations will also be added to toroidal and an uneven blade spacing design to test this hypothesis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69CF6-A17C-A34B-9ECC-F2704744D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60719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the experimental setup it's important to consider the parameters needed to define a given propellers performance. Dimensionless thrust and torque coefficients can be found from blade tip speed and area. </a:t>
            </a:r>
          </a:p>
          <a:p>
            <a:r>
              <a:rPr lang="en-GB" dirty="0"/>
              <a:t>These can then be combined into a static efficiency, or figure of merit which is the </a:t>
            </a:r>
            <a:r>
              <a:rPr lang="en-US" dirty="0"/>
              <a:t>ratio the ideal power required to hover to the actual power required.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0782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F99CB-4436-76D3-04AB-BB639B262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9C4BBA-B884-3910-3B44-1D1C122B1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E08912-9E6D-54B9-9BAB-A236BBCA1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3CA47-5490-2C86-CD87-EF5A621685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24650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20860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preliminary setup to measure thrust against a speed control input was built.</a:t>
            </a:r>
          </a:p>
          <a:p>
            <a:r>
              <a:rPr lang="en-GB" dirty="0"/>
              <a:t>Throttle is supposed to be proportional to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55977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964FD-6503-5235-1119-4B0E67EA6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0ECCD8-F783-AF99-A058-64B24385F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D472C6-0561-A9A3-703E-80B0D4423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preliminary setup to measure thrust against a speed control input was built.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AC319-428B-A77A-3D9D-D8C0CCA576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2399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4A269-5AE8-9590-DCC7-9890676E7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F157E-C3BE-9784-7A11-4C5C111EEE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7A0064-D3D7-4671-F3AA-71BDDD4FD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74A90-A543-A4A5-78E1-8A4D6F45E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6A39B-CB52-CB65-8F37-E519420F0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79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344B0-F44B-BC44-4621-DFBFBFF78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48BA3-59E1-0ACA-78A4-BFA5170DC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18B79-5DA7-9B4D-62C9-A9B9DE6DC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41498-BD25-EB5A-B7E0-9F69B5AAC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8CBBF-7C1F-DB0F-7C3E-B03D2B430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079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75303-F02B-4BA7-6F80-777EF3F48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D2542-4634-DF42-0F22-CA0C37E32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193E9-DE39-13B2-68BC-41019A845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2CBDB-D82F-EE87-3053-6FEF2874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A3069-2793-956D-1E92-FAB2BF993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0360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33B91-0CF1-BF89-8CC6-EB71EA645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C8786-6211-BC53-5D92-DFFCC78A1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86FDA3-409F-F1D2-5E28-263519724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CA2EE4-B849-D250-1145-08E7190D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C9BCD2-4FE6-A729-9DEB-E55CFF2A3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332C2-3ED4-E1D6-0530-6487B7A8D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23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3E5F-1FB6-13C6-C7F4-EB9B245F1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84CB1-4079-AC7D-32DF-F82585545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231250-0482-53E1-744C-1D983130F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585D79-C408-76CC-D58D-D65BB8D478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ECE2C5-3C19-4162-8BA5-680E9C28A0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A8DB51-E808-B626-634E-51319CC52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492F4E-DF88-23CE-539C-54D951290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8D2CC-F632-2C97-E571-C4BEEE7B8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839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E0DA-48C7-A9ED-CC80-F9A288DD1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A575E9-483B-090D-E9F0-9498A256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01D19-6781-33F6-A2AC-70DDFE9D6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61EACB-7B57-ACE9-27FD-C06AC1AE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973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05B12-C1D3-CD71-4F2B-084E242DB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1B6155-D26D-4589-7DF3-95BE79D0B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D13DD-7AF5-F736-7739-BD8D535D0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945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0A568-7B9C-0EFA-0BF7-28DE3FE1F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0578A-0B1D-2D6B-8ED3-2169ABA43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1CE73-4A1E-3417-053A-F5F70F583A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49FFC-F144-09D0-6B06-F66E86EE8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94071-F8B3-4475-E773-B4C0477A5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435CB-6FCD-F35E-5F06-3FF54D4A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490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1A9C-1329-A56F-2537-D8E5DFA0A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CCF3AA-3445-6E97-290F-6A3C26AE0D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84BC6D-12B7-9C4B-BEEF-E9EBFE9E75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1E670-C2F8-AB48-68EF-2B320141F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FD70B-3326-297B-352C-E9D50E281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B2D117-A90C-3474-0A9A-3202742C7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0041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962BD-3C37-D003-3EE2-054EC79D3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CF2F28-F84B-8816-4FEA-71A6D32CF3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885994-D9F3-ED6C-3FA9-4679CB1D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5D7EA-4ED0-2188-805B-FB080038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83693-FFA7-02E2-BC83-E50ACB8A7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478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557076-BF26-873C-2810-4A6BA2A71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800107-5A74-BF00-0208-E9C0CDED5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BDE91-8602-55EC-C697-946321BB8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91B15-27C7-4233-5901-4F00FDA80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F06BA-6E22-97E4-FC84-1FC937810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1440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48AE4-5F0C-24CC-7437-58C986BB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A3C7B-08CD-8FD7-8217-8DF7285CD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22863-BB98-E95D-A5F9-4B93CC21DB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C3C57F-C92A-483E-A8E5-2F94B59C9323}" type="datetimeFigureOut">
              <a:rPr lang="en-GB" smtClean="0"/>
              <a:t>28/11/2024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CFB1F-00DC-6F7F-5F3E-48BC369C7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F51B6-23BB-BDAD-E07F-8E9DAF178A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2142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5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189A5C-8EAF-D622-9AD8-85747CADC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2192482"/>
            <a:ext cx="6714699" cy="1805191"/>
          </a:xfrm>
        </p:spPr>
        <p:txBody>
          <a:bodyPr>
            <a:normAutofit/>
          </a:bodyPr>
          <a:lstStyle/>
          <a:p>
            <a:pPr algn="l"/>
            <a:r>
              <a:rPr lang="en-GB" sz="4800" dirty="0">
                <a:solidFill>
                  <a:srgbClr val="FFFFFF"/>
                </a:solidFill>
              </a:rPr>
              <a:t>Acoustic Signatures of Quadcopter Propellers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757E4D-9D2A-E465-6BD0-4F479ABA0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26985" y="5250991"/>
            <a:ext cx="7055893" cy="1078054"/>
          </a:xfrm>
        </p:spPr>
        <p:txBody>
          <a:bodyPr>
            <a:normAutofit/>
          </a:bodyPr>
          <a:lstStyle/>
          <a:p>
            <a:pPr algn="r"/>
            <a:r>
              <a:rPr lang="en-GB" dirty="0">
                <a:solidFill>
                  <a:srgbClr val="FFFFFF"/>
                </a:solidFill>
              </a:rPr>
              <a:t>Louis Pender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Supervised by Dr Shreyas Mandre</a:t>
            </a:r>
          </a:p>
        </p:txBody>
      </p:sp>
    </p:spTree>
    <p:extLst>
      <p:ext uri="{BB962C8B-B14F-4D97-AF65-F5344CB8AC3E}">
        <p14:creationId xmlns:p14="http://schemas.microsoft.com/office/powerpoint/2010/main" val="289182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8B66DD-BA91-54D3-4B60-73B1C0960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9679" y="439994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Context and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4A76D-A7FD-8847-FF28-6A5BE4C3D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9678" y="1768201"/>
            <a:ext cx="10714203" cy="435170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/>
              <a:t>Noise pollution is a barrier for adoption of drone-based services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Propellers are the primary source of noise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Must optimise aerodynamic and aero-acoustic performance</a:t>
            </a:r>
          </a:p>
        </p:txBody>
      </p:sp>
    </p:spTree>
    <p:extLst>
      <p:ext uri="{BB962C8B-B14F-4D97-AF65-F5344CB8AC3E}">
        <p14:creationId xmlns:p14="http://schemas.microsoft.com/office/powerpoint/2010/main" val="3029635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D59634-B6D2-CA0D-3E91-0CC9F230D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2C86B-310B-26E1-B5F6-92321096F3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496510-076E-6529-3C69-A5D983CF81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B27B4C-4A61-6EE3-38BA-70D675419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A801EC-4108-CBBB-9056-375B4702A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D6A083-C23A-C199-CBA4-DE8C0F06F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B2840D-6AEF-7E31-8A46-F7D203459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743" y="402414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Sources of propeller noise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48A5A-3BCD-676E-62FE-E0615AA4A1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120" y="1794953"/>
            <a:ext cx="7789844" cy="457301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/>
              <a:t>Broadband</a:t>
            </a:r>
          </a:p>
          <a:p>
            <a:r>
              <a:rPr lang="en-GB" sz="2400" b="1" dirty="0"/>
              <a:t>Formation and shedding of vortices</a:t>
            </a:r>
          </a:p>
          <a:p>
            <a:r>
              <a:rPr lang="en-GB" sz="2400" dirty="0"/>
              <a:t>Trailing edge turbulent interaction</a:t>
            </a:r>
          </a:p>
          <a:p>
            <a:r>
              <a:rPr lang="en-GB" sz="2400" dirty="0"/>
              <a:t>Flow separation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Discrete frequency tonal noise</a:t>
            </a:r>
          </a:p>
          <a:p>
            <a:r>
              <a:rPr lang="en-GB" sz="2400" dirty="0"/>
              <a:t>Thickness noise</a:t>
            </a:r>
          </a:p>
          <a:p>
            <a:r>
              <a:rPr lang="en-GB" sz="2400" b="1" dirty="0"/>
              <a:t>Loading noise</a:t>
            </a:r>
          </a:p>
          <a:p>
            <a:r>
              <a:rPr lang="en-GB" sz="2400" dirty="0"/>
              <a:t>Interaction and distortion effects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4E60C8-6F57-3C51-70F3-12293B831D55}"/>
              </a:ext>
            </a:extLst>
          </p:cNvPr>
          <p:cNvSpPr txBox="1"/>
          <p:nvPr/>
        </p:nvSpPr>
        <p:spPr>
          <a:xfrm>
            <a:off x="4202263" y="5059259"/>
            <a:ext cx="4017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Blade passing frequencies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FAFEF700-1428-A902-97E6-2FEE77631A6F}"/>
              </a:ext>
            </a:extLst>
          </p:cNvPr>
          <p:cNvSpPr/>
          <p:nvPr/>
        </p:nvSpPr>
        <p:spPr>
          <a:xfrm>
            <a:off x="3650519" y="4961984"/>
            <a:ext cx="551743" cy="65621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56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B5025B-3D80-0CC4-2006-923A1BC2A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D4F78A-F37B-B1DE-69AB-C270AC8F1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5745CF-9619-AF40-1167-3856C048C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E8B599-FC68-4E63-838A-8742AE80E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F0590A-59B4-6573-5680-74BEE528B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2AD4C7-3E3E-AA35-1F16-8BCB03653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DF2F80-4B94-3290-D89A-4F89C94F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887" y="302965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Noise reduction geometry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FBB8285-6432-1BCC-8C52-B726981C3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561" y="1867577"/>
            <a:ext cx="5026054" cy="4033394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4200314-9225-28E0-2806-649E768B771D}"/>
              </a:ext>
            </a:extLst>
          </p:cNvPr>
          <p:cNvSpPr txBox="1"/>
          <p:nvPr/>
        </p:nvSpPr>
        <p:spPr>
          <a:xfrm>
            <a:off x="9291674" y="3903711"/>
            <a:ext cx="26039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A. D. Wiedemann et al.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CA7AA-5659-48B1-C827-BCB210B1C7E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9349" y="1639599"/>
            <a:ext cx="5457289" cy="28318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GB" sz="2800" dirty="0"/>
              <a:t>Geometry</a:t>
            </a:r>
          </a:p>
          <a:p>
            <a:pPr lvl="1"/>
            <a:r>
              <a:rPr lang="en-GB" dirty="0"/>
              <a:t>Tip geometry</a:t>
            </a:r>
          </a:p>
          <a:p>
            <a:pPr lvl="1"/>
            <a:r>
              <a:rPr lang="en-GB" dirty="0"/>
              <a:t>Blade sweep</a:t>
            </a:r>
          </a:p>
          <a:p>
            <a:pPr lvl="1"/>
            <a:r>
              <a:rPr lang="en-GB" dirty="0"/>
              <a:t>Varying blade spacing</a:t>
            </a:r>
          </a:p>
          <a:p>
            <a:pPr lvl="1"/>
            <a:r>
              <a:rPr lang="en-GB" dirty="0"/>
              <a:t>Trailing edge serrations</a:t>
            </a:r>
            <a:endParaRPr lang="en-GB" sz="2000" dirty="0"/>
          </a:p>
          <a:p>
            <a:endParaRPr lang="en-GB" sz="20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16BA01-436A-5812-342F-E42141AB22F6}"/>
              </a:ext>
            </a:extLst>
          </p:cNvPr>
          <p:cNvGrpSpPr/>
          <p:nvPr/>
        </p:nvGrpSpPr>
        <p:grpSpPr>
          <a:xfrm>
            <a:off x="549271" y="4215265"/>
            <a:ext cx="5471416" cy="2487338"/>
            <a:chOff x="459350" y="4615094"/>
            <a:chExt cx="4456938" cy="194836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6EB6A47-5DB1-4897-6746-A076ABF9F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9009"/>
            <a:stretch/>
          </p:blipFill>
          <p:spPr>
            <a:xfrm>
              <a:off x="459350" y="4615094"/>
              <a:ext cx="4445431" cy="1948368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09827F-FB05-2B25-3EE1-3339B337B035}"/>
                </a:ext>
              </a:extLst>
            </p:cNvPr>
            <p:cNvSpPr txBox="1"/>
            <p:nvPr/>
          </p:nvSpPr>
          <p:spPr>
            <a:xfrm>
              <a:off x="1811531" y="5637216"/>
              <a:ext cx="31047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C. F. Wisniewski et al.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DDEF540-2758-FFDA-4A9A-934D0BF28A52}"/>
              </a:ext>
            </a:extLst>
          </p:cNvPr>
          <p:cNvGrpSpPr/>
          <p:nvPr/>
        </p:nvGrpSpPr>
        <p:grpSpPr>
          <a:xfrm>
            <a:off x="396501" y="3571433"/>
            <a:ext cx="11398993" cy="3149089"/>
            <a:chOff x="341513" y="3528752"/>
            <a:chExt cx="11398993" cy="314908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EA873DD-E14A-D8F1-79ED-D3A98497AA28}"/>
                </a:ext>
              </a:extLst>
            </p:cNvPr>
            <p:cNvGrpSpPr/>
            <p:nvPr/>
          </p:nvGrpSpPr>
          <p:grpSpPr>
            <a:xfrm>
              <a:off x="341513" y="3528752"/>
              <a:ext cx="11398993" cy="3149089"/>
              <a:chOff x="370167" y="3611384"/>
              <a:chExt cx="11398993" cy="3149089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7CD423FC-03F4-D5A1-2483-AE0A82548D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0167" y="4933196"/>
                <a:ext cx="5861841" cy="1827277"/>
              </a:xfrm>
              <a:prstGeom prst="rect">
                <a:avLst/>
              </a:prstGeom>
            </p:spPr>
          </p:pic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30C9D165-BE70-4E74-4603-F7C49AD44FC9}"/>
                  </a:ext>
                </a:extLst>
              </p:cNvPr>
              <p:cNvGrpSpPr/>
              <p:nvPr/>
            </p:nvGrpSpPr>
            <p:grpSpPr>
              <a:xfrm>
                <a:off x="6433123" y="3611384"/>
                <a:ext cx="5336037" cy="3001521"/>
                <a:chOff x="6433123" y="3611384"/>
                <a:chExt cx="5336037" cy="3001521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8E28C63F-94ED-AE22-8F66-C521AF20E8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33123" y="3611384"/>
                  <a:ext cx="5336037" cy="3001521"/>
                </a:xfrm>
                <a:prstGeom prst="rect">
                  <a:avLst/>
                </a:prstGeom>
              </p:spPr>
            </p:pic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6258E11-FAAE-C175-D482-1D2F77033364}"/>
                    </a:ext>
                  </a:extLst>
                </p:cNvPr>
                <p:cNvSpPr txBox="1"/>
                <p:nvPr/>
              </p:nvSpPr>
              <p:spPr>
                <a:xfrm>
                  <a:off x="8043808" y="3816655"/>
                  <a:ext cx="213585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dirty="0"/>
                    <a:t>L. Wang et al.</a:t>
                  </a:r>
                </a:p>
              </p:txBody>
            </p:sp>
          </p:grp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21B5BFC-0666-1747-43A2-6F76CB712D48}"/>
                </a:ext>
              </a:extLst>
            </p:cNvPr>
            <p:cNvSpPr txBox="1"/>
            <p:nvPr/>
          </p:nvSpPr>
          <p:spPr>
            <a:xfrm>
              <a:off x="2403245" y="5703934"/>
              <a:ext cx="16544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B. Zang et al.</a:t>
              </a: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25EA4EFB-2B85-0490-D2E3-7D36C2580C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4783" y="2551569"/>
            <a:ext cx="6407782" cy="385761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69AEADA-A701-016A-DAA0-A0259333D066}"/>
              </a:ext>
            </a:extLst>
          </p:cNvPr>
          <p:cNvSpPr txBox="1"/>
          <p:nvPr/>
        </p:nvSpPr>
        <p:spPr>
          <a:xfrm>
            <a:off x="8953266" y="4653107"/>
            <a:ext cx="2473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Bi-loop “Toroidal”</a:t>
            </a:r>
          </a:p>
          <a:p>
            <a:r>
              <a:rPr lang="en-GB" dirty="0">
                <a:solidFill>
                  <a:schemeClr val="bg1"/>
                </a:solidFill>
              </a:rPr>
              <a:t>Propeller </a:t>
            </a:r>
            <a:r>
              <a:rPr lang="en-GB" dirty="0" err="1">
                <a:solidFill>
                  <a:schemeClr val="bg1"/>
                </a:solidFill>
              </a:rPr>
              <a:t>Thingyverse</a:t>
            </a:r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410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373EFC-50AC-AC9B-D8C3-83D34FA27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A diagram of a number of stars&#10;&#10;Description automatically generated">
            <a:extLst>
              <a:ext uri="{FF2B5EF4-FFF2-40B4-BE49-F238E27FC236}">
                <a16:creationId xmlns:a16="http://schemas.microsoft.com/office/drawing/2014/main" id="{0861257B-D118-BE46-6933-3A1C3AE8CB33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rcRect r="17534"/>
          <a:stretch/>
        </p:blipFill>
        <p:spPr>
          <a:xfrm>
            <a:off x="3660397" y="508339"/>
            <a:ext cx="6296403" cy="58408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FC4491-0C2F-5B07-DD17-36B52939958D}"/>
              </a:ext>
            </a:extLst>
          </p:cNvPr>
          <p:cNvSpPr txBox="1"/>
          <p:nvPr/>
        </p:nvSpPr>
        <p:spPr>
          <a:xfrm>
            <a:off x="410189" y="328054"/>
            <a:ext cx="284001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bg1"/>
                </a:solidFill>
              </a:rPr>
              <a:t>PA quantifies:</a:t>
            </a:r>
          </a:p>
          <a:p>
            <a:endParaRPr lang="en-GB" sz="2800" dirty="0">
              <a:solidFill>
                <a:schemeClr val="bg1"/>
              </a:solidFill>
            </a:endParaRPr>
          </a:p>
          <a:p>
            <a:r>
              <a:rPr lang="en-GB" sz="2800" dirty="0">
                <a:solidFill>
                  <a:schemeClr val="bg1"/>
                </a:solidFill>
              </a:rPr>
              <a:t>Psychoacoustic annoyance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A446E-DF3B-1960-885D-2AE704FE52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01"/>
          <a:stretch/>
        </p:blipFill>
        <p:spPr>
          <a:xfrm>
            <a:off x="478359" y="2182747"/>
            <a:ext cx="2523102" cy="20975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1B22594-6FB4-9B51-877B-55C1645F75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868" t="5053" r="3640"/>
          <a:stretch/>
        </p:blipFill>
        <p:spPr>
          <a:xfrm>
            <a:off x="482166" y="4280346"/>
            <a:ext cx="2519295" cy="2203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023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9F730-2028-0F34-77C5-EF236244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0935BE1-5B83-FDD5-E052-91A12EE63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7FAA285-63DF-8570-8CE3-DE338BA4E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4C37ACB-B4C2-5653-C9F3-BA0E12F2E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32517F-A722-0FFF-0F1F-E17A862E69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A diagram of a number of stars&#10;&#10;Description automatically generated">
            <a:extLst>
              <a:ext uri="{FF2B5EF4-FFF2-40B4-BE49-F238E27FC236}">
                <a16:creationId xmlns:a16="http://schemas.microsoft.com/office/drawing/2014/main" id="{1E96DCE4-97A5-817D-B2B8-12F4201C2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0397" y="508339"/>
            <a:ext cx="7635155" cy="58408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78A7D2-BC72-BBEE-4DD9-C177B5B777DA}"/>
              </a:ext>
            </a:extLst>
          </p:cNvPr>
          <p:cNvSpPr txBox="1"/>
          <p:nvPr/>
        </p:nvSpPr>
        <p:spPr>
          <a:xfrm>
            <a:off x="319900" y="751373"/>
            <a:ext cx="28400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bg1"/>
                </a:solidFill>
              </a:rPr>
              <a:t>FM quantifies:</a:t>
            </a:r>
          </a:p>
          <a:p>
            <a:r>
              <a:rPr lang="en-GB" sz="2800" dirty="0">
                <a:solidFill>
                  <a:schemeClr val="bg1"/>
                </a:solidFill>
              </a:rPr>
              <a:t>Static efficiency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816CAC4-ECFF-FAB1-01C4-ADBBDF088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01"/>
          <a:stretch/>
        </p:blipFill>
        <p:spPr>
          <a:xfrm>
            <a:off x="478359" y="2182747"/>
            <a:ext cx="2523102" cy="20975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D83175A-1484-2782-CB6E-C69EB7978C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868" t="5053" r="3640"/>
          <a:stretch/>
        </p:blipFill>
        <p:spPr>
          <a:xfrm>
            <a:off x="482166" y="4280346"/>
            <a:ext cx="2519295" cy="2203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871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84C99E-1C51-E619-7C98-62CACEBDF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9E6C3-E2AE-1A2C-4E04-2B8C7295E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626" y="1786678"/>
            <a:ext cx="10343766" cy="4071025"/>
          </a:xfrm>
        </p:spPr>
        <p:txBody>
          <a:bodyPr anchor="ctr">
            <a:normAutofit lnSpcReduction="10000"/>
          </a:bodyPr>
          <a:lstStyle/>
          <a:p>
            <a:r>
              <a:rPr lang="en-GB" dirty="0"/>
              <a:t>Redistributing loading away from the tip will decrease tonal and broadband noise</a:t>
            </a:r>
          </a:p>
          <a:p>
            <a:endParaRPr lang="en-GB" dirty="0"/>
          </a:p>
          <a:p>
            <a:r>
              <a:rPr lang="en-GB" dirty="0"/>
              <a:t>Closed loop toroidal propellers predicted to have</a:t>
            </a:r>
          </a:p>
          <a:p>
            <a:pPr lvl="1"/>
            <a:r>
              <a:rPr lang="en-GB" sz="2800" dirty="0"/>
              <a:t>reduced tonal components due to sweep</a:t>
            </a:r>
          </a:p>
          <a:p>
            <a:pPr lvl="1"/>
            <a:r>
              <a:rPr lang="en-GB" sz="2800" dirty="0"/>
              <a:t>reduced broadband due to low tip loading.</a:t>
            </a:r>
          </a:p>
          <a:p>
            <a:endParaRPr lang="en-GB" dirty="0"/>
          </a:p>
          <a:p>
            <a:r>
              <a:rPr lang="en-GB" dirty="0"/>
              <a:t>Trailing edge serrations predicted to reduce blade wake interaction and hence the broadband noise.</a:t>
            </a:r>
          </a:p>
        </p:txBody>
      </p:sp>
    </p:spTree>
    <p:extLst>
      <p:ext uri="{BB962C8B-B14F-4D97-AF65-F5344CB8AC3E}">
        <p14:creationId xmlns:p14="http://schemas.microsoft.com/office/powerpoint/2010/main" val="1814590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6D6236-4AA6-6861-46AD-140A40AA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247" y="420949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E358F-D7FF-016F-569C-6BD94603C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247" y="2358855"/>
            <a:ext cx="10398046" cy="4343502"/>
          </a:xfrm>
        </p:spPr>
        <p:txBody>
          <a:bodyPr anchor="ctr">
            <a:normAutofit/>
          </a:bodyPr>
          <a:lstStyle/>
          <a:p>
            <a:r>
              <a:rPr lang="en-GB" dirty="0"/>
              <a:t>Design and build experimental setups to measure</a:t>
            </a:r>
            <a:r>
              <a:rPr lang="en-GB" b="1" dirty="0"/>
              <a:t> aerodynamic performance</a:t>
            </a:r>
            <a:r>
              <a:rPr lang="en-GB" dirty="0"/>
              <a:t> and </a:t>
            </a:r>
            <a:r>
              <a:rPr lang="en-GB" b="1" dirty="0"/>
              <a:t>acoustic signatures </a:t>
            </a:r>
            <a:r>
              <a:rPr lang="en-GB" dirty="0"/>
              <a:t>of various propeller designs</a:t>
            </a:r>
          </a:p>
          <a:p>
            <a:endParaRPr lang="en-GB" dirty="0"/>
          </a:p>
          <a:p>
            <a:r>
              <a:rPr lang="en-GB" dirty="0"/>
              <a:t>Attribute </a:t>
            </a:r>
            <a:r>
              <a:rPr lang="en-US" dirty="0"/>
              <a:t>changes in the acoustic spectrum to flow phenomena caused by propeller geometry modifications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Analyse trade-off in performance of the different designs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3545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FAAA1C-6749-297B-735C-924DA2CE1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1E9543B-D305-A95D-4A26-9A08F719F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A2FD05-61FF-ED5E-1576-B40C045ADA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5EDE1A-9062-AD43-DF26-D9E96BCCC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16ABDB-D530-4E22-34DE-AF1E04988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494E08-E107-2C0F-2BD9-9FC0EA879B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53D2C8-8303-CE0B-DAF7-1F4713788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12" y="290734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Geometry Modifications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6DA977-C88F-498F-0C81-5ABBA8C7B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4" y="2927181"/>
            <a:ext cx="5204298" cy="166991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7B79E1-6F2F-D186-AD11-637A9414A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794" y="4528415"/>
            <a:ext cx="5204298" cy="19882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9CB367-7352-D22E-43D2-58CEC3BF7D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904" y="1885279"/>
            <a:ext cx="5210188" cy="10485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9FA8A88-8658-E01C-FED1-D3F127C761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063" y="1888166"/>
            <a:ext cx="2156143" cy="433489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046C491-2D00-B7B8-7100-67567EE958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3324" y="1811317"/>
            <a:ext cx="1394738" cy="44885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582DD2-3455-4781-0E37-C29DD6E61F42}"/>
              </a:ext>
            </a:extLst>
          </p:cNvPr>
          <p:cNvSpPr txBox="1"/>
          <p:nvPr/>
        </p:nvSpPr>
        <p:spPr>
          <a:xfrm>
            <a:off x="5415344" y="1919392"/>
            <a:ext cx="31751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Design using blade element method</a:t>
            </a:r>
          </a:p>
          <a:p>
            <a:endParaRPr lang="en-GB" sz="2400" dirty="0"/>
          </a:p>
          <a:p>
            <a:r>
              <a:rPr lang="en-GB" sz="2400" dirty="0"/>
              <a:t>Chord, twist and sweep distribution</a:t>
            </a:r>
          </a:p>
          <a:p>
            <a:endParaRPr lang="en-GB" sz="2400" dirty="0"/>
          </a:p>
          <a:p>
            <a:r>
              <a:rPr lang="en-GB" sz="2400" dirty="0"/>
              <a:t>Blade spacing</a:t>
            </a:r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954881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EF8942-9360-F860-55C9-3090EA785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Aerodynamic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</p:spPr>
            <p:txBody>
              <a:bodyPr anchor="ctr">
                <a:normAutofit/>
              </a:bodyPr>
              <a:lstStyle/>
              <a:p>
                <a:r>
                  <a:rPr lang="en-GB" dirty="0"/>
                  <a:t>Aerodynamic performance quantities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rΩ</m:t>
                                  </m:r>
                                </m:e>
                              </m:d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  <m:r>
                        <a:rPr lang="en-GB" b="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d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𝑟𝐴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Require measurements for torque, thrust and angular speed.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  <a:blipFill>
                <a:blip r:embed="rId3"/>
                <a:stretch>
                  <a:fillRect l="-12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BE3A3-63F0-6B49-F498-15D8A8897B14}"/>
                  </a:ext>
                </a:extLst>
              </p:cNvPr>
              <p:cNvSpPr txBox="1"/>
              <p:nvPr/>
            </p:nvSpPr>
            <p:spPr>
              <a:xfrm>
                <a:off x="3077438" y="3327167"/>
                <a:ext cx="6037119" cy="122283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𝐹𝑂𝑀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  <m:sup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2/3</m:t>
                              </m:r>
                            </m:sup>
                          </m:sSubSup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b>
                            <m:sSub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BE3A3-63F0-6B49-F498-15D8A8897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7438" y="3327167"/>
                <a:ext cx="6037119" cy="12228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4570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4B8105-AB67-C5F8-1784-31BF50D6E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7E2F0B1-559D-8AF4-BE87-827A893F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B7FEAB-C04D-1184-9E48-ED5D23977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4922DB-E2BC-FFA7-D69F-F4BCC9C21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20118-9CCC-2AE4-FA00-A5BCC73DE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1D9AC5-0EC4-38D7-8E7D-41944460A213}"/>
              </a:ext>
            </a:extLst>
          </p:cNvPr>
          <p:cNvSpPr txBox="1">
            <a:spLocks/>
          </p:cNvSpPr>
          <p:nvPr/>
        </p:nvSpPr>
        <p:spPr>
          <a:xfrm>
            <a:off x="386594" y="168226"/>
            <a:ext cx="627032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dirty="0">
                <a:solidFill>
                  <a:schemeClr val="bg1"/>
                </a:solidFill>
              </a:rPr>
              <a:t>Aerodynamic measurements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C7375A3-69B7-413F-69EC-A8BA51B8A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45" y="1756051"/>
            <a:ext cx="5304181" cy="462984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Torque and thrust measured by strain gauge load cells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Cantilever models selected for sensitivity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Full bridge strain gauge for resistance to off-axis forces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Orientation selected for accuracy, and ease of calibration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86DFC9-3FCE-4B2C-21D4-5096FA13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918" y="678959"/>
            <a:ext cx="5535079" cy="5706932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5483222-7FA1-43E3-0E43-3BCA4A734F31}"/>
              </a:ext>
            </a:extLst>
          </p:cNvPr>
          <p:cNvCxnSpPr/>
          <p:nvPr/>
        </p:nvCxnSpPr>
        <p:spPr>
          <a:xfrm>
            <a:off x="9733031" y="2372952"/>
            <a:ext cx="0" cy="180075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04817C5-A174-12ED-CD05-D21FCACCD153}"/>
              </a:ext>
            </a:extLst>
          </p:cNvPr>
          <p:cNvCxnSpPr/>
          <p:nvPr/>
        </p:nvCxnSpPr>
        <p:spPr>
          <a:xfrm flipH="1" flipV="1">
            <a:off x="7921060" y="908790"/>
            <a:ext cx="460005" cy="584999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0D65FE1-107C-FA9D-2997-06740E17CA59}"/>
              </a:ext>
            </a:extLst>
          </p:cNvPr>
          <p:cNvSpPr txBox="1"/>
          <p:nvPr/>
        </p:nvSpPr>
        <p:spPr>
          <a:xfrm>
            <a:off x="6967391" y="1000950"/>
            <a:ext cx="1183671" cy="3758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Airflow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B0ECA5-B5F5-A7BB-588C-27C5ADCAB7E6}"/>
              </a:ext>
            </a:extLst>
          </p:cNvPr>
          <p:cNvSpPr txBox="1"/>
          <p:nvPr/>
        </p:nvSpPr>
        <p:spPr>
          <a:xfrm>
            <a:off x="9811568" y="3522608"/>
            <a:ext cx="2434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Calibration load</a:t>
            </a:r>
          </a:p>
        </p:txBody>
      </p:sp>
    </p:spTree>
    <p:extLst>
      <p:ext uri="{BB962C8B-B14F-4D97-AF65-F5344CB8AC3E}">
        <p14:creationId xmlns:p14="http://schemas.microsoft.com/office/powerpoint/2010/main" val="2773337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AA5FBC-085C-6F67-FFE6-B768D4CC0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Acoustic measurements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7441A-FA9D-6416-2F48-B1CF5C5E3D5A}"/>
              </a:ext>
            </a:extLst>
          </p:cNvPr>
          <p:cNvSpPr txBox="1"/>
          <p:nvPr/>
        </p:nvSpPr>
        <p:spPr>
          <a:xfrm>
            <a:off x="905348" y="2638391"/>
            <a:ext cx="42322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Separate acoustic setup</a:t>
            </a:r>
          </a:p>
          <a:p>
            <a:endParaRPr lang="en-GB" sz="2400" dirty="0"/>
          </a:p>
          <a:p>
            <a:r>
              <a:rPr lang="en-GB" sz="2400" dirty="0"/>
              <a:t>Acoustically insulate motor</a:t>
            </a:r>
          </a:p>
          <a:p>
            <a:endParaRPr lang="en-GB" sz="2400" dirty="0"/>
          </a:p>
          <a:p>
            <a:r>
              <a:rPr lang="en-GB" sz="2400" dirty="0"/>
              <a:t>Calibrated microphone is moved to measure directivity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2FB14C-2BFA-7005-0BDD-85C20A79B2FF}"/>
              </a:ext>
            </a:extLst>
          </p:cNvPr>
          <p:cNvSpPr/>
          <p:nvPr/>
        </p:nvSpPr>
        <p:spPr>
          <a:xfrm>
            <a:off x="9594509" y="3675442"/>
            <a:ext cx="709217" cy="7672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344AF3-D23C-4669-0B36-A3267FB2322E}"/>
              </a:ext>
            </a:extLst>
          </p:cNvPr>
          <p:cNvSpPr/>
          <p:nvPr/>
        </p:nvSpPr>
        <p:spPr>
          <a:xfrm>
            <a:off x="6228678" y="1922470"/>
            <a:ext cx="5783416" cy="4108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9F98A153-4E1B-3B61-09E8-2EFDCFAEBD9D}"/>
              </a:ext>
            </a:extLst>
          </p:cNvPr>
          <p:cNvSpPr/>
          <p:nvPr/>
        </p:nvSpPr>
        <p:spPr>
          <a:xfrm>
            <a:off x="7069498" y="2335065"/>
            <a:ext cx="4011210" cy="3447957"/>
          </a:xfrm>
          <a:prstGeom prst="arc">
            <a:avLst>
              <a:gd name="adj1" fmla="val 13538050"/>
              <a:gd name="adj2" fmla="val 2150237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1" name="Picture 20" descr="A black microphone icon&#10;&#10;Description automatically generated">
            <a:extLst>
              <a:ext uri="{FF2B5EF4-FFF2-40B4-BE49-F238E27FC236}">
                <a16:creationId xmlns:a16="http://schemas.microsoft.com/office/drawing/2014/main" id="{C73239C3-3601-685D-F630-2EDB042840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9455" y1="72131" x2="49455" y2="7213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284" y="2025228"/>
            <a:ext cx="951418" cy="633125"/>
          </a:xfrm>
          <a:prstGeom prst="rect">
            <a:avLst/>
          </a:prstGeom>
        </p:spPr>
      </p:pic>
      <p:sp>
        <p:nvSpPr>
          <p:cNvPr id="24" name="Oval 23">
            <a:extLst>
              <a:ext uri="{FF2B5EF4-FFF2-40B4-BE49-F238E27FC236}">
                <a16:creationId xmlns:a16="http://schemas.microsoft.com/office/drawing/2014/main" id="{54DDB280-4E08-210E-6E34-3C9D1C7D13DC}"/>
              </a:ext>
            </a:extLst>
          </p:cNvPr>
          <p:cNvSpPr/>
          <p:nvPr/>
        </p:nvSpPr>
        <p:spPr>
          <a:xfrm>
            <a:off x="10985458" y="3895725"/>
            <a:ext cx="190500" cy="18097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852010F-A772-F928-6525-37478CBBEC97}"/>
              </a:ext>
            </a:extLst>
          </p:cNvPr>
          <p:cNvSpPr/>
          <p:nvPr/>
        </p:nvSpPr>
        <p:spPr>
          <a:xfrm>
            <a:off x="10701592" y="3120976"/>
            <a:ext cx="190500" cy="18097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C8BD5B0-08F1-1842-7A50-692C1966A461}"/>
              </a:ext>
            </a:extLst>
          </p:cNvPr>
          <p:cNvSpPr/>
          <p:nvPr/>
        </p:nvSpPr>
        <p:spPr>
          <a:xfrm>
            <a:off x="8448508" y="4548280"/>
            <a:ext cx="1272402" cy="123474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 descr="A black and white image of a couple of cotton swabs&#10;&#10;Description automatically generated">
            <a:extLst>
              <a:ext uri="{FF2B5EF4-FFF2-40B4-BE49-F238E27FC236}">
                <a16:creationId xmlns:a16="http://schemas.microsoft.com/office/drawing/2014/main" id="{5854F576-6B54-6249-5A72-58815CEA4B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>
            <a:off x="7806329" y="3530363"/>
            <a:ext cx="2575328" cy="1852612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9FEAD75-7FE1-CC7B-9CF4-65F7AA58726E}"/>
              </a:ext>
            </a:extLst>
          </p:cNvPr>
          <p:cNvSpPr txBox="1"/>
          <p:nvPr/>
        </p:nvSpPr>
        <p:spPr>
          <a:xfrm>
            <a:off x="8732202" y="4894330"/>
            <a:ext cx="685800" cy="64918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107FF39-D1F0-23CF-044C-4C53A559F114}"/>
              </a:ext>
            </a:extLst>
          </p:cNvPr>
          <p:cNvCxnSpPr/>
          <p:nvPr/>
        </p:nvCxnSpPr>
        <p:spPr>
          <a:xfrm flipH="1" flipV="1">
            <a:off x="7839075" y="2758760"/>
            <a:ext cx="1262063" cy="1246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EF783B-71C1-27F3-18B8-0DC29B794C42}"/>
                  </a:ext>
                </a:extLst>
              </p:cNvPr>
              <p:cNvSpPr txBox="1"/>
              <p:nvPr/>
            </p:nvSpPr>
            <p:spPr>
              <a:xfrm>
                <a:off x="7979071" y="3182455"/>
                <a:ext cx="5655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EF783B-71C1-27F3-18B8-0DC29B794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9071" y="3182455"/>
                <a:ext cx="56555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Arc 34">
            <a:extLst>
              <a:ext uri="{FF2B5EF4-FFF2-40B4-BE49-F238E27FC236}">
                <a16:creationId xmlns:a16="http://schemas.microsoft.com/office/drawing/2014/main" id="{5111A3C0-9DF7-DB8C-A593-7AFD08700D98}"/>
              </a:ext>
            </a:extLst>
          </p:cNvPr>
          <p:cNvSpPr/>
          <p:nvPr/>
        </p:nvSpPr>
        <p:spPr>
          <a:xfrm>
            <a:off x="6949441" y="2605869"/>
            <a:ext cx="3563535" cy="3042456"/>
          </a:xfrm>
          <a:prstGeom prst="arc">
            <a:avLst>
              <a:gd name="adj1" fmla="val 20194489"/>
              <a:gd name="adj2" fmla="val 21389731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8648488-BABC-02B7-5F54-D3F923A14721}"/>
              </a:ext>
            </a:extLst>
          </p:cNvPr>
          <p:cNvCxnSpPr>
            <a:cxnSpLocks/>
          </p:cNvCxnSpPr>
          <p:nvPr/>
        </p:nvCxnSpPr>
        <p:spPr>
          <a:xfrm flipH="1">
            <a:off x="9720910" y="3003482"/>
            <a:ext cx="1499794" cy="723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CF2D22A-78AF-FC33-A39B-997CEA474A58}"/>
              </a:ext>
            </a:extLst>
          </p:cNvPr>
          <p:cNvCxnSpPr>
            <a:cxnSpLocks/>
          </p:cNvCxnSpPr>
          <p:nvPr/>
        </p:nvCxnSpPr>
        <p:spPr>
          <a:xfrm flipH="1">
            <a:off x="10208915" y="3998850"/>
            <a:ext cx="12710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819E69-7C68-6C40-8DA8-AD6B3CC5EDFE}"/>
                  </a:ext>
                </a:extLst>
              </p:cNvPr>
              <p:cNvSpPr txBox="1"/>
              <p:nvPr/>
            </p:nvSpPr>
            <p:spPr>
              <a:xfrm>
                <a:off x="9949117" y="3607887"/>
                <a:ext cx="6273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819E69-7C68-6C40-8DA8-AD6B3CC5E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9117" y="3607887"/>
                <a:ext cx="627351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6808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C7607D-6C99-8A72-BB0E-0D8646CB2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Preliminary setup</a:t>
            </a: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E190A3-5FBC-0D78-B099-0031FC35A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4496" y="2074260"/>
            <a:ext cx="5446149" cy="4032147"/>
          </a:xfrm>
          <a:prstGeom prst="rect">
            <a:avLst/>
          </a:prstGeom>
        </p:spPr>
      </p:pic>
      <p:pic>
        <p:nvPicPr>
          <p:cNvPr id="16" name="Picture 15" descr="A fan on a table&#10;&#10;Description automatically generated">
            <a:extLst>
              <a:ext uri="{FF2B5EF4-FFF2-40B4-BE49-F238E27FC236}">
                <a16:creationId xmlns:a16="http://schemas.microsoft.com/office/drawing/2014/main" id="{F1B7C94D-EBEC-3A93-1CEB-1AB67958F0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03" r="20131"/>
          <a:stretch/>
        </p:blipFill>
        <p:spPr>
          <a:xfrm rot="5400000">
            <a:off x="1076461" y="1429311"/>
            <a:ext cx="411257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8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BAA418-E574-292E-B76C-FFAA6A0DB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B438E12-70CB-D033-4AF6-6A66190D5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162B39-8166-048B-BFE9-D25EF22DDB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056FEA7-2CFE-7D15-14E4-1CE15CB9F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ECF154-7366-9E50-5454-6C27FC39E3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C1300D-28AE-0EF1-BC8C-C57DAD621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BECBE2-A4C4-70B6-C758-B1BD9EEA99FE}"/>
              </a:ext>
            </a:extLst>
          </p:cNvPr>
          <p:cNvSpPr txBox="1">
            <a:spLocks/>
          </p:cNvSpPr>
          <p:nvPr/>
        </p:nvSpPr>
        <p:spPr>
          <a:xfrm>
            <a:off x="704583" y="487534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Questions?</a:t>
            </a:r>
            <a:endParaRPr lang="en-GB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F77CED-4624-8290-2A0D-089D1BE580B9}"/>
              </a:ext>
            </a:extLst>
          </p:cNvPr>
          <p:cNvSpPr txBox="1">
            <a:spLocks/>
          </p:cNvSpPr>
          <p:nvPr/>
        </p:nvSpPr>
        <p:spPr>
          <a:xfrm>
            <a:off x="614851" y="253793"/>
            <a:ext cx="452491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chemeClr val="bg1"/>
                </a:solidFill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395B41-79D9-3866-8416-AEA780AB929D}"/>
              </a:ext>
            </a:extLst>
          </p:cNvPr>
          <p:cNvSpPr txBox="1"/>
          <p:nvPr/>
        </p:nvSpPr>
        <p:spPr>
          <a:xfrm>
            <a:off x="704583" y="1933386"/>
            <a:ext cx="580280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Reducing drone noise important for adoption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Not an easy problem, large design space with trade-offs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Change blade loading, sweep and blade spacing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Aerodynamic and aeroacoustics setups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D52957-A92B-F8C0-C451-4D6B52708077}"/>
              </a:ext>
            </a:extLst>
          </p:cNvPr>
          <p:cNvSpPr txBox="1"/>
          <p:nvPr/>
        </p:nvSpPr>
        <p:spPr>
          <a:xfrm>
            <a:off x="6381378" y="534808"/>
            <a:ext cx="470945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dirty="0">
                <a:solidFill>
                  <a:schemeClr val="bg1"/>
                </a:solidFill>
              </a:rPr>
              <a:t>Future work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B07C59-EE46-7E57-BDB3-241BEEAE842B}"/>
              </a:ext>
            </a:extLst>
          </p:cNvPr>
          <p:cNvSpPr txBox="1"/>
          <p:nvPr/>
        </p:nvSpPr>
        <p:spPr>
          <a:xfrm>
            <a:off x="6755760" y="1957257"/>
            <a:ext cx="4918267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Blade element method propeller designs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Design of detailed acoustic setup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Experimental data collection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Possibility for </a:t>
            </a:r>
            <a:r>
              <a:rPr lang="en-GB" sz="2000" dirty="0" err="1"/>
              <a:t>aeroacoustic</a:t>
            </a:r>
            <a:r>
              <a:rPr lang="en-GB" sz="2000" dirty="0"/>
              <a:t> modelling with </a:t>
            </a:r>
            <a:r>
              <a:rPr lang="en-GB" sz="2000" dirty="0" err="1"/>
              <a:t>Ffowcs</a:t>
            </a:r>
            <a:r>
              <a:rPr lang="en-GB" sz="2000" dirty="0"/>
              <a:t> Williams Hawkings equation.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22601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5686</TotalTime>
  <Words>860</Words>
  <Application>Microsoft Office PowerPoint</Application>
  <PresentationFormat>Widescreen</PresentationFormat>
  <Paragraphs>163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Office Theme</vt:lpstr>
      <vt:lpstr>Acoustic Signatures of Quadcopter Propellers</vt:lpstr>
      <vt:lpstr>Context and application</vt:lpstr>
      <vt:lpstr>Sources of propeller noise</vt:lpstr>
      <vt:lpstr>Noise reduction geometry</vt:lpstr>
      <vt:lpstr>PowerPoint Presentation</vt:lpstr>
      <vt:lpstr>PowerPoint Presentation</vt:lpstr>
      <vt:lpstr>Hypothesis</vt:lpstr>
      <vt:lpstr>Objectives</vt:lpstr>
      <vt:lpstr>Geometry Modifications</vt:lpstr>
      <vt:lpstr>Aerodynamic performance</vt:lpstr>
      <vt:lpstr>PowerPoint Presentation</vt:lpstr>
      <vt:lpstr>Acoustic measurements</vt:lpstr>
      <vt:lpstr>Preliminary setup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Louis Pender</dc:creator>
  <cp:lastModifiedBy>Louis Pender</cp:lastModifiedBy>
  <cp:revision>136</cp:revision>
  <dcterms:created xsi:type="dcterms:W3CDTF">2024-11-22T13:57:46Z</dcterms:created>
  <dcterms:modified xsi:type="dcterms:W3CDTF">2024-11-28T16:07:10Z</dcterms:modified>
</cp:coreProperties>
</file>