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7" r:id="rId5"/>
    <p:sldId id="258" r:id="rId6"/>
    <p:sldId id="261" r:id="rId7"/>
    <p:sldId id="263" r:id="rId8"/>
    <p:sldId id="264" r:id="rId9"/>
    <p:sldId id="266" r:id="rId10"/>
    <p:sldId id="268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82134" autoAdjust="0"/>
  </p:normalViewPr>
  <p:slideViewPr>
    <p:cSldViewPr snapToGrid="0">
      <p:cViewPr varScale="1">
        <p:scale>
          <a:sx n="92" d="100"/>
          <a:sy n="92" d="100"/>
        </p:scale>
        <p:origin x="1314" y="78"/>
      </p:cViewPr>
      <p:guideLst/>
    </p:cSldViewPr>
  </p:slideViewPr>
  <p:notesTextViewPr>
    <p:cViewPr>
      <p:scale>
        <a:sx n="98" d="100"/>
        <a:sy n="98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logistics, surveying and mapping.</a:t>
            </a:r>
          </a:p>
          <a:p>
            <a:r>
              <a:rPr lang="en-GB" dirty="0"/>
              <a:t>The propellers of drones make up a small fraction of their cost, but efficient designs are important for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Future legislation will likely require small and reliable drones with many propellers for redundancy.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 course this isn’t a new topic </a:t>
            </a:r>
          </a:p>
          <a:p>
            <a:r>
              <a:rPr lang="en-GB" dirty="0"/>
              <a:t>Previous research has covered changes to tip geometry which has reduced tonality from tip vortex blade interaction.</a:t>
            </a:r>
          </a:p>
          <a:p>
            <a:r>
              <a:rPr lang="en-GB" dirty="0"/>
              <a:t>Blade sweep was found to have little affect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key designs considered in this project will be uneven blade span and toroidal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301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power coefficients can be found from blade tip speed and area. The ratio of these coefficients define a ‘static’ efficiency which is different to the typical propulsive efficiency. The values then required to be measured are the torque, thrust and angular speed.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measure torque and thrust the deflection of load cells will be measured by strain gauges. This was chosen over null force balancing methods for its simple setup and sufficient accuracy.</a:t>
            </a:r>
          </a:p>
          <a:p>
            <a:r>
              <a:rPr lang="en-GB" dirty="0"/>
              <a:t>Full bridge load cell refers to 4 strain gauges in the Wheatstone bridge which can compensate for off axis forces.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805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897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l"/>
            <a:r>
              <a:rPr lang="en-GB" dirty="0">
                <a:solidFill>
                  <a:srgbClr val="FFFFFF"/>
                </a:solidFill>
              </a:rPr>
              <a:t>LWP26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350" y="1768200"/>
            <a:ext cx="11484411" cy="47952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The widespread adoption of drone-based services is limited by their negative public perception, which is in part due to the irritating noise they make.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account for the primary source of noise but are also important for productivity.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Recent research has focused on optimising aerodynamic and aeroacoustics performance to overcome these barriers.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05" y="285873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Previous aero acoustic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818" y="1682605"/>
            <a:ext cx="9724031" cy="3001521"/>
          </a:xfrm>
        </p:spPr>
        <p:txBody>
          <a:bodyPr anchor="ctr">
            <a:normAutofit/>
          </a:bodyPr>
          <a:lstStyle/>
          <a:p>
            <a:pPr lvl="1"/>
            <a:r>
              <a:rPr lang="en-GB" sz="2800" dirty="0"/>
              <a:t>Tip geometry</a:t>
            </a:r>
          </a:p>
          <a:p>
            <a:pPr lvl="1"/>
            <a:r>
              <a:rPr lang="en-GB" sz="2800" dirty="0"/>
              <a:t>Blade sweep</a:t>
            </a:r>
          </a:p>
          <a:p>
            <a:pPr lvl="1"/>
            <a:r>
              <a:rPr lang="en-GB" sz="2800" dirty="0"/>
              <a:t>Varying blade spacing</a:t>
            </a:r>
          </a:p>
          <a:p>
            <a:pPr lvl="1"/>
            <a:r>
              <a:rPr lang="en-GB" sz="2800" dirty="0"/>
              <a:t>Trailing edge serrations</a:t>
            </a:r>
            <a:endParaRPr lang="en-GB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7287219" y="441171"/>
            <a:ext cx="4445431" cy="1948368"/>
            <a:chOff x="459350" y="4615094"/>
            <a:chExt cx="4445431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528178" y="5419923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23" y="2667429"/>
            <a:ext cx="5026054" cy="40333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CD423FC-03F4-D5A1-2483-AE0A82548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859" y="4590779"/>
            <a:ext cx="5861841" cy="182727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7959365" y="3673718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1B5BFC-0666-1747-43A2-6F76CB712D48}"/>
              </a:ext>
            </a:extLst>
          </p:cNvPr>
          <p:cNvSpPr txBox="1"/>
          <p:nvPr/>
        </p:nvSpPr>
        <p:spPr>
          <a:xfrm>
            <a:off x="2403245" y="5703934"/>
            <a:ext cx="1654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B. Zang et al.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0C9D165-BE70-4E74-4603-F7C49AD44FC9}"/>
              </a:ext>
            </a:extLst>
          </p:cNvPr>
          <p:cNvGrpSpPr/>
          <p:nvPr/>
        </p:nvGrpSpPr>
        <p:grpSpPr>
          <a:xfrm>
            <a:off x="6282700" y="3570606"/>
            <a:ext cx="5336037" cy="3001521"/>
            <a:chOff x="6282700" y="3570606"/>
            <a:chExt cx="5336037" cy="300152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28C63F-94ED-AE22-8F66-C521AF20E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82700" y="3570606"/>
              <a:ext cx="5336037" cy="300152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58E11-FAAE-C175-D482-1D2F77033364}"/>
                </a:ext>
              </a:extLst>
            </p:cNvPr>
            <p:cNvSpPr txBox="1"/>
            <p:nvPr/>
          </p:nvSpPr>
          <p:spPr>
            <a:xfrm>
              <a:off x="8043808" y="3816655"/>
              <a:ext cx="213585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L. Wang et al.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BCF1-F4AB-B535-D03D-7FD6B9549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Toroidal and varying edge</a:t>
            </a:r>
          </a:p>
        </p:txBody>
      </p:sp>
      <p:pic>
        <p:nvPicPr>
          <p:cNvPr id="7" name="Content Placeholder 6" descr="A black metal tongs&#10;&#10;Description automatically generated">
            <a:extLst>
              <a:ext uri="{FF2B5EF4-FFF2-40B4-BE49-F238E27FC236}">
                <a16:creationId xmlns:a16="http://schemas.microsoft.com/office/drawing/2014/main" id="{880BBE34-3152-AFE0-5D87-79E643BFAF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5" b="23273"/>
          <a:stretch/>
        </p:blipFill>
        <p:spPr>
          <a:xfrm>
            <a:off x="6613252" y="1618880"/>
            <a:ext cx="4960125" cy="3356263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AF2F64-5005-E43B-C643-C35BC2A07982}"/>
              </a:ext>
            </a:extLst>
          </p:cNvPr>
          <p:cNvSpPr txBox="1"/>
          <p:nvPr/>
        </p:nvSpPr>
        <p:spPr>
          <a:xfrm>
            <a:off x="8693726" y="4516497"/>
            <a:ext cx="2140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Foxeer</a:t>
            </a: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87DB04-9879-0400-BB66-6CD4B59A734D}"/>
              </a:ext>
            </a:extLst>
          </p:cNvPr>
          <p:cNvSpPr/>
          <p:nvPr/>
        </p:nvSpPr>
        <p:spPr>
          <a:xfrm>
            <a:off x="1215736" y="1787236"/>
            <a:ext cx="4363013" cy="40940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Uneven blade span</a:t>
            </a:r>
          </a:p>
        </p:txBody>
      </p:sp>
    </p:spTree>
    <p:extLst>
      <p:ext uri="{BB962C8B-B14F-4D97-AF65-F5344CB8AC3E}">
        <p14:creationId xmlns:p14="http://schemas.microsoft.com/office/powerpoint/2010/main" val="345461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3724339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an experimental setup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Analyse and compare psychoacoustic performance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Power is obtained from </a:t>
                </a:r>
                <a14:m>
                  <m:oMath xmlns:m="http://schemas.openxmlformats.org/officeDocument/2006/math">
                    <m:r>
                      <a:rPr lang="en-GB" b="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⋅2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values for torque, thrust and angular speed.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 t="-612" b="-21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570" y="231946"/>
            <a:ext cx="10515600" cy="1325563"/>
          </a:xfrm>
        </p:spPr>
        <p:txBody>
          <a:bodyPr/>
          <a:lstStyle/>
          <a:p>
            <a:r>
              <a:rPr lang="en-GB" dirty="0"/>
              <a:t>Aerodynamic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cantilever models selected for sensitivity and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4" y="1236485"/>
            <a:ext cx="5199557" cy="536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031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53C29-8BE0-FA3F-BADF-EB4F5C5E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Acoustic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C9FEE-F51C-BBC5-5750-D5F85AFD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Can be separated into tonal and broadband.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To quantify the perceived annoyance of sound, a psychoacoustic model must be considered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US" dirty="0"/>
              <a:t>Psychoacoustic annoyance can be quantified </a:t>
            </a:r>
            <a:r>
              <a:rPr lang="en-GB" dirty="0"/>
              <a:t>using Zwicker’s model which defines </a:t>
            </a:r>
            <a:r>
              <a:rPr lang="en-US" dirty="0"/>
              <a:t>metrics of loudness, fluctuation strength, roughness, sharpness.</a:t>
            </a:r>
          </a:p>
        </p:txBody>
      </p:sp>
    </p:spTree>
    <p:extLst>
      <p:ext uri="{BB962C8B-B14F-4D97-AF65-F5344CB8AC3E}">
        <p14:creationId xmlns:p14="http://schemas.microsoft.com/office/powerpoint/2010/main" val="1354065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22670F-0D71-AD7E-B183-43040CD27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978" y="447674"/>
            <a:ext cx="6820194" cy="6175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5575"/>
            <a:ext cx="10515600" cy="1325563"/>
          </a:xfrm>
        </p:spPr>
        <p:txBody>
          <a:bodyPr/>
          <a:lstStyle/>
          <a:p>
            <a:r>
              <a:rPr lang="en-GB" dirty="0"/>
              <a:t>Acoustic measurements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/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994AB0B-01E0-C9B1-FAB4-4B6511A40250}"/>
              </a:ext>
            </a:extLst>
          </p:cNvPr>
          <p:cNvSpPr txBox="1"/>
          <p:nvPr/>
        </p:nvSpPr>
        <p:spPr>
          <a:xfrm>
            <a:off x="438150" y="1574655"/>
            <a:ext cx="50274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Ideally, the propeller acoustics must be isolated from the motor and motor driver.</a:t>
            </a:r>
          </a:p>
          <a:p>
            <a:endParaRPr lang="en-GB" sz="2400" dirty="0"/>
          </a:p>
          <a:p>
            <a:r>
              <a:rPr lang="en-GB" sz="2400" dirty="0"/>
              <a:t>However, this is not possible and so the acoustics of no propeller will be measured at the same speed</a:t>
            </a:r>
          </a:p>
        </p:txBody>
      </p:sp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Conclusion/Hypothesis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451" y="249153"/>
            <a:ext cx="10515600" cy="1325563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EDC919-4D0D-9CAF-829E-6BC52F9E82E6}"/>
              </a:ext>
            </a:extLst>
          </p:cNvPr>
          <p:cNvSpPr txBox="1">
            <a:spLocks/>
          </p:cNvSpPr>
          <p:nvPr/>
        </p:nvSpPr>
        <p:spPr>
          <a:xfrm>
            <a:off x="753451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3700</TotalTime>
  <Words>620</Words>
  <Application>Microsoft Office PowerPoint</Application>
  <PresentationFormat>Widescreen</PresentationFormat>
  <Paragraphs>78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Previous aero acoustic research</vt:lpstr>
      <vt:lpstr>Toroidal and varying edge</vt:lpstr>
      <vt:lpstr>Objectives</vt:lpstr>
      <vt:lpstr>Aerodynamic performance</vt:lpstr>
      <vt:lpstr>Aerodynamic measurements</vt:lpstr>
      <vt:lpstr>Acoustic performance</vt:lpstr>
      <vt:lpstr>Acoustic measurements</vt:lpstr>
      <vt:lpstr>Conclusion/Hypothesis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44</cp:revision>
  <dcterms:created xsi:type="dcterms:W3CDTF">2024-11-22T13:57:46Z</dcterms:created>
  <dcterms:modified xsi:type="dcterms:W3CDTF">2024-11-26T09:56:56Z</dcterms:modified>
</cp:coreProperties>
</file>